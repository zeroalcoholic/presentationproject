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147472936" r:id="rId2"/>
    <p:sldId id="2147472926" r:id="rId3"/>
    <p:sldId id="2147472937" r:id="rId4"/>
    <p:sldId id="2147472929" r:id="rId5"/>
    <p:sldId id="2147472938" r:id="rId6"/>
    <p:sldId id="2147472939" r:id="rId7"/>
    <p:sldId id="2147472940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A9B515-2C3B-743D-13C3-A85653251FDE}" v="8" dt="2026-06-25T01:42:09.0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73" autoAdjust="0"/>
    <p:restoredTop sz="94660"/>
  </p:normalViewPr>
  <p:slideViewPr>
    <p:cSldViewPr snapToGrid="0">
      <p:cViewPr varScale="1">
        <p:scale>
          <a:sx n="74" d="100"/>
          <a:sy n="74" d="100"/>
        </p:scale>
        <p:origin x="291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F80D54-4E68-4E35-906E-79469ACAE71A}" type="datetimeFigureOut">
              <a:t>2026/6/25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0903BC-A933-4483-9912-B62BDAB87422}" type="slidenum"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6650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816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035FB-8220-F0C7-D687-6F6CCEC1D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254166-9743-CBB0-95B9-A04520583C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34940A-E7AC-7F9C-CE2A-DC8878D40F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EDCE5-E4E2-F36C-E391-34BF60DA3D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24648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2FD28-045E-EBC2-6E97-382089982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2885CE-8CE5-92B0-3B92-FA8EB5AB1B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105D11-26C9-CED8-C535-738594AF19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88A403-D9D3-7D5A-721C-95010C4AF5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76153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C9DEA-426B-60C6-BCB0-D03B1D651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8616FA-FD84-2EAD-0332-45FCF3C8F2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138085-622B-4A87-B6B1-8EA34F2AC6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A616D2-FAD1-B40B-CC38-718C730597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60996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2776C-A87A-6AA9-C795-D80E91C68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CC6A78-5D76-65BD-C2FD-666871BB33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BE17FB-476E-C638-F393-9DFA31DACC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4C679-98E9-B7D4-5E66-B4009C1E52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62811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CB8BC-F030-EFB7-C6BB-B07D8D5E9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17AFA8-7D1F-1102-3FBA-5B42019590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3A9B5C-1549-189E-FD19-5CE5F5BB3D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E0D448-C52E-B75B-1E8E-28ED6F28CC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22107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6C279-2FA5-E3D9-68D8-55A5738C4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073BE4-CD99-7471-7268-BE7E1CEB59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2C7417-52E7-1B7B-28ED-148C26B6BC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62F04-6656-1415-58FD-0D8B25F859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3198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2026/6/25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448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2026/6/25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2236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2026/6/25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4042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2026/6/25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7651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2026/6/25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4048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2026/6/25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4656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2026/6/25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0961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2026/6/25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526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2026/6/25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2263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2026/6/25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045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2026/6/25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56514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9528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75EF9D-446A-4BA9-9A8F-8795C824CFA3}" type="datetimeFigureOut">
              <a:rPr lang="zh-TW" altLang="en-US" smtClean="0"/>
              <a:t>2026/6/25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1134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FF7FA6EA-6721-736B-7D3E-D83E4EFA02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239" y="0"/>
            <a:ext cx="12185522" cy="6858000"/>
          </a:xfrm>
          <a:custGeom>
            <a:avLst/>
            <a:gdLst>
              <a:gd name="connsiteX0" fmla="*/ 330136 w 12185522"/>
              <a:gd name="connsiteY0" fmla="*/ 2124075 h 6858000"/>
              <a:gd name="connsiteX1" fmla="*/ 330136 w 12185522"/>
              <a:gd name="connsiteY1" fmla="*/ 5400675 h 6858000"/>
              <a:gd name="connsiteX2" fmla="*/ 6749986 w 12185522"/>
              <a:gd name="connsiteY2" fmla="*/ 5400675 h 6858000"/>
              <a:gd name="connsiteX3" fmla="*/ 6749986 w 12185522"/>
              <a:gd name="connsiteY3" fmla="*/ 2124075 h 6858000"/>
              <a:gd name="connsiteX4" fmla="*/ 0 w 12185522"/>
              <a:gd name="connsiteY4" fmla="*/ 0 h 6858000"/>
              <a:gd name="connsiteX5" fmla="*/ 12185522 w 12185522"/>
              <a:gd name="connsiteY5" fmla="*/ 0 h 6858000"/>
              <a:gd name="connsiteX6" fmla="*/ 12185522 w 12185522"/>
              <a:gd name="connsiteY6" fmla="*/ 6858000 h 6858000"/>
              <a:gd name="connsiteX7" fmla="*/ 0 w 1218552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5522" h="6858000">
                <a:moveTo>
                  <a:pt x="330136" y="2124075"/>
                </a:moveTo>
                <a:lnTo>
                  <a:pt x="330136" y="5400675"/>
                </a:lnTo>
                <a:lnTo>
                  <a:pt x="6749986" y="5400675"/>
                </a:lnTo>
                <a:lnTo>
                  <a:pt x="6749986" y="2124075"/>
                </a:lnTo>
                <a:close/>
                <a:moveTo>
                  <a:pt x="0" y="0"/>
                </a:moveTo>
                <a:lnTo>
                  <a:pt x="12185522" y="0"/>
                </a:lnTo>
                <a:lnTo>
                  <a:pt x="1218552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2CEB1D7-882F-98FC-644F-1A7A45057F83}"/>
              </a:ext>
            </a:extLst>
          </p:cNvPr>
          <p:cNvSpPr txBox="1">
            <a:spLocks/>
          </p:cNvSpPr>
          <p:nvPr/>
        </p:nvSpPr>
        <p:spPr>
          <a:xfrm>
            <a:off x="9292800" y="642072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914446">
              <a:defRPr/>
            </a:pPr>
            <a:fld id="{C943E751-5AFC-0141-B0E4-D3EAC645F84F}" type="slidenum">
              <a:rPr kumimoji="1" lang="zh-TW" altLang="en-US" sz="1867">
                <a:solidFill>
                  <a:prstClr val="black">
                    <a:lumMod val="50000"/>
                  </a:prstClr>
                </a:solidFill>
                <a:latin typeface="Bahnschrift Condensed" panose="020B0502040204020203" pitchFamily="34" charset="0"/>
                <a:ea typeface="微軟正黑體"/>
              </a:rPr>
              <a:pPr algn="r" defTabSz="914446">
                <a:defRPr/>
              </a:pPr>
              <a:t>1</a:t>
            </a:fld>
            <a:endParaRPr kumimoji="1" lang="zh-TW" altLang="en-US" sz="1867">
              <a:solidFill>
                <a:prstClr val="black">
                  <a:lumMod val="50000"/>
                </a:prstClr>
              </a:solidFill>
              <a:latin typeface="Bahnschrift Condensed" panose="020B0502040204020203" pitchFamily="34" charset="0"/>
              <a:ea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1AB87C5-4455-C87C-BA45-537AC70D8E28}"/>
              </a:ext>
            </a:extLst>
          </p:cNvPr>
          <p:cNvSpPr txBox="1"/>
          <p:nvPr/>
        </p:nvSpPr>
        <p:spPr>
          <a:xfrm>
            <a:off x="1284051" y="2967335"/>
            <a:ext cx="50321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5400" b="1">
                <a:solidFill>
                  <a:srgbClr val="0C9B74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如何交辦</a:t>
            </a:r>
            <a:r>
              <a:rPr lang="en-US" altLang="zh-TW" sz="5400" b="1">
                <a:solidFill>
                  <a:srgbClr val="0C9B74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AI</a:t>
            </a:r>
            <a:r>
              <a:rPr lang="zh-TW" altLang="en-US" sz="5400" b="1">
                <a:solidFill>
                  <a:srgbClr val="0C9B74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做事</a:t>
            </a:r>
          </a:p>
        </p:txBody>
      </p:sp>
    </p:spTree>
    <p:extLst>
      <p:ext uri="{BB962C8B-B14F-4D97-AF65-F5344CB8AC3E}">
        <p14:creationId xmlns:p14="http://schemas.microsoft.com/office/powerpoint/2010/main" val="2749669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7E7A6-B4EF-103F-5856-D46EB2B5E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群組 62">
            <a:extLst>
              <a:ext uri="{FF2B5EF4-FFF2-40B4-BE49-F238E27FC236}">
                <a16:creationId xmlns:a16="http://schemas.microsoft.com/office/drawing/2014/main" id="{8271B85A-928F-3E1B-7535-1F8326AA5355}"/>
              </a:ext>
            </a:extLst>
          </p:cNvPr>
          <p:cNvGrpSpPr/>
          <p:nvPr/>
        </p:nvGrpSpPr>
        <p:grpSpPr>
          <a:xfrm>
            <a:off x="1" y="183482"/>
            <a:ext cx="11564981" cy="417987"/>
            <a:chOff x="671322" y="492959"/>
            <a:chExt cx="11564980" cy="417987"/>
          </a:xfrm>
        </p:grpSpPr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C4ACDF81-B3EE-30CF-9AFC-9D83A37A19E6}"/>
                </a:ext>
              </a:extLst>
            </p:cNvPr>
            <p:cNvSpPr/>
            <p:nvPr/>
          </p:nvSpPr>
          <p:spPr>
            <a:xfrm>
              <a:off x="922811" y="530557"/>
              <a:ext cx="11313491" cy="342791"/>
            </a:xfrm>
            <a:prstGeom prst="rect">
              <a:avLst/>
            </a:prstGeom>
            <a:noFill/>
          </p:spPr>
          <p:txBody>
            <a:bodyPr lIns="70199" tIns="35100" rIns="70199" bIns="35100" anchor="ctr"/>
            <a:lstStyle/>
            <a:p>
              <a:pPr defTabSz="609630">
                <a:lnSpc>
                  <a:spcPct val="112000"/>
                </a:lnSpc>
              </a:pPr>
              <a:r>
                <a:rPr lang="en-US" altLang="zh-TW" sz="3200" b="1" kern="0">
                  <a:solidFill>
                    <a:prstClr val="black"/>
                  </a:solidFill>
                  <a:latin typeface="微軟正黑體"/>
                  <a:ea typeface="微軟正黑體"/>
                </a:rPr>
                <a:t>AI Agent </a:t>
              </a:r>
              <a:r>
                <a:rPr lang="zh-TW" altLang="en-US" sz="3200" b="1" kern="0">
                  <a:solidFill>
                    <a:prstClr val="black"/>
                  </a:solidFill>
                  <a:latin typeface="微軟正黑體"/>
                  <a:ea typeface="微軟正黑體"/>
                </a:rPr>
                <a:t>時代的變化：工作可以被重新分配</a:t>
              </a:r>
              <a:endParaRPr lang="en-US" altLang="zh-TW" sz="3200">
                <a:solidFill>
                  <a:prstClr val="black"/>
                </a:solidFill>
                <a:latin typeface="Calibri" panose="020F0502020204030204"/>
                <a:ea typeface="新細明體" panose="02020500000000000000" pitchFamily="18" charset="-120"/>
              </a:endParaRPr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21A58577-0D99-6683-7991-8DE16CBBC97F}"/>
                </a:ext>
              </a:extLst>
            </p:cNvPr>
            <p:cNvSpPr/>
            <p:nvPr/>
          </p:nvSpPr>
          <p:spPr>
            <a:xfrm>
              <a:off x="671322" y="492959"/>
              <a:ext cx="188768" cy="417987"/>
            </a:xfrm>
            <a:prstGeom prst="rect">
              <a:avLst/>
            </a:prstGeom>
            <a:solidFill>
              <a:srgbClr val="4AC1A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02083">
                <a:defRPr/>
              </a:pPr>
              <a:endParaRPr lang="zh-TW" altLang="en-US" sz="1382">
                <a:solidFill>
                  <a:prstClr val="white"/>
                </a:solidFill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</p:grpSp>
      <p:sp>
        <p:nvSpPr>
          <p:cNvPr id="66" name="矩形 65">
            <a:extLst>
              <a:ext uri="{FF2B5EF4-FFF2-40B4-BE49-F238E27FC236}">
                <a16:creationId xmlns:a16="http://schemas.microsoft.com/office/drawing/2014/main" id="{2E7EA3FD-C973-DD4F-A360-5425A35150AC}"/>
              </a:ext>
            </a:extLst>
          </p:cNvPr>
          <p:cNvSpPr/>
          <p:nvPr/>
        </p:nvSpPr>
        <p:spPr>
          <a:xfrm>
            <a:off x="-291348" y="470244"/>
            <a:ext cx="12520574" cy="484393"/>
          </a:xfrm>
          <a:prstGeom prst="rect">
            <a:avLst/>
          </a:prstGeom>
          <a:gradFill>
            <a:gsLst>
              <a:gs pos="917">
                <a:srgbClr val="9BDDCC">
                  <a:alpha val="4000"/>
                </a:srgbClr>
              </a:gs>
              <a:gs pos="99083">
                <a:schemeClr val="accent6">
                  <a:lumMod val="40000"/>
                  <a:lumOff val="60000"/>
                  <a:alpha val="0"/>
                </a:schemeClr>
              </a:gs>
              <a:gs pos="70000">
                <a:srgbClr val="9BDDCC">
                  <a:alpha val="25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>
              <a:defRPr/>
            </a:pPr>
            <a:r>
              <a:rPr lang="en-US" altLang="zh-TW">
                <a:solidFill>
                  <a:prstClr val="white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=</a:t>
            </a:r>
            <a:endParaRPr lang="zh-TW" altLang="en-US">
              <a:solidFill>
                <a:prstClr val="white"/>
              </a:solidFill>
              <a:latin typeface="Arial" panose="020B060402020202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2">
            <a:extLst>
              <a:ext uri="{FF2B5EF4-FFF2-40B4-BE49-F238E27FC236}">
                <a16:creationId xmlns:a16="http://schemas.microsoft.com/office/drawing/2014/main" id="{56C83BF8-86D0-7F32-87E0-23B3DAAF7A91}"/>
              </a:ext>
            </a:extLst>
          </p:cNvPr>
          <p:cNvSpPr txBox="1">
            <a:spLocks/>
          </p:cNvSpPr>
          <p:nvPr/>
        </p:nvSpPr>
        <p:spPr>
          <a:xfrm>
            <a:off x="9285849" y="645388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914446">
              <a:defRPr/>
            </a:pPr>
            <a:fld id="{C943E751-5AFC-0141-B0E4-D3EAC645F84F}" type="slidenum">
              <a:rPr kumimoji="1" lang="zh-TW" altLang="en-US" sz="1867">
                <a:solidFill>
                  <a:prstClr val="black">
                    <a:lumMod val="50000"/>
                  </a:prstClr>
                </a:solidFill>
                <a:latin typeface="Bahnschrift Condensed" panose="020B0502040204020203" pitchFamily="34" charset="0"/>
                <a:ea typeface="微軟正黑體"/>
              </a:rPr>
              <a:pPr algn="r" defTabSz="914446">
                <a:defRPr/>
              </a:pPr>
              <a:t>2</a:t>
            </a:fld>
            <a:endParaRPr kumimoji="1" lang="zh-TW" altLang="en-US" sz="1867">
              <a:solidFill>
                <a:prstClr val="black">
                  <a:lumMod val="50000"/>
                </a:prstClr>
              </a:solidFill>
              <a:latin typeface="Bahnschrift Condensed" panose="020B0502040204020203" pitchFamily="34" charset="0"/>
              <a:ea typeface="微軟正黑體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FBF0821-E752-1828-50B4-3EB145FDE7B0}"/>
              </a:ext>
            </a:extLst>
          </p:cNvPr>
          <p:cNvSpPr>
            <a:spLocks noGrp="1"/>
          </p:cNvSpPr>
          <p:nvPr/>
        </p:nvSpPr>
        <p:spPr>
          <a:xfrm>
            <a:off x="1787568" y="1343155"/>
            <a:ext cx="8362740" cy="69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 defTabSz="609630">
              <a:defRPr sz="3600" b="1">
                <a:solidFill>
                  <a:srgbClr val="1E3A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00" b="1">
                <a:solidFill>
                  <a:srgbClr val="157156"/>
                </a:solidFill>
                <a:latin typeface="Microsoft JhengHei"/>
                <a:ea typeface="Microsoft JhengHei"/>
                <a:cs typeface="Microsoft JhengHei"/>
              </a:rPr>
              <a:t>AI </a:t>
            </a:r>
            <a:r>
              <a:rPr sz="3200" b="1" err="1">
                <a:solidFill>
                  <a:srgbClr val="157156"/>
                </a:solidFill>
                <a:latin typeface="Microsoft JhengHei"/>
                <a:ea typeface="Microsoft JhengHei"/>
                <a:cs typeface="Microsoft JhengHei"/>
              </a:rPr>
              <a:t>不是多一個</a:t>
            </a:r>
            <a:r>
              <a:rPr lang="zh-TW" altLang="en-US" sz="3200" b="1">
                <a:solidFill>
                  <a:srgbClr val="157156"/>
                </a:solidFill>
                <a:latin typeface="Microsoft JhengHei"/>
                <a:ea typeface="Microsoft JhengHei"/>
                <a:cs typeface="Microsoft JhengHei"/>
              </a:rPr>
              <a:t>聊天對象，也不只是工具</a:t>
            </a:r>
            <a:endParaRPr sz="3200" b="1">
              <a:solidFill>
                <a:srgbClr val="157156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52B66F2-3147-4057-0147-121FCF89F993}"/>
              </a:ext>
            </a:extLst>
          </p:cNvPr>
          <p:cNvSpPr>
            <a:spLocks noGrp="1"/>
          </p:cNvSpPr>
          <p:nvPr/>
        </p:nvSpPr>
        <p:spPr>
          <a:xfrm>
            <a:off x="2805626" y="2320240"/>
            <a:ext cx="628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 defTabSz="609630">
              <a:defRPr sz="18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33" b="1" err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讓我們重新</a:t>
            </a:r>
            <a:r>
              <a:rPr lang="zh-TW" altLang="en-US" sz="2133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思考</a:t>
            </a:r>
            <a:r>
              <a:rPr sz="2133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：</a:t>
            </a:r>
            <a:r>
              <a:rPr sz="2133" b="1" err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誰定義、誰執行、誰驗收</a:t>
            </a:r>
            <a:r>
              <a:rPr sz="2133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41" name="矩形: 圓角 40">
            <a:extLst>
              <a:ext uri="{FF2B5EF4-FFF2-40B4-BE49-F238E27FC236}">
                <a16:creationId xmlns:a16="http://schemas.microsoft.com/office/drawing/2014/main" id="{92CEA955-01DB-27C8-C244-5893CF068D35}"/>
              </a:ext>
            </a:extLst>
          </p:cNvPr>
          <p:cNvSpPr>
            <a:spLocks noGrp="1"/>
          </p:cNvSpPr>
          <p:nvPr/>
        </p:nvSpPr>
        <p:spPr>
          <a:xfrm>
            <a:off x="2124937" y="3276120"/>
            <a:ext cx="1928920" cy="817646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1E3A66"/>
            </a:solidFill>
            <a:prstDash val="solid"/>
          </a:ln>
        </p:spPr>
        <p:txBody>
          <a:bodyPr/>
          <a:lstStyle/>
          <a:p>
            <a:pPr algn="ctr" defTabSz="609630">
              <a:defRPr sz="2100" b="1">
                <a:solidFill>
                  <a:srgbClr val="1E3A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33" b="1">
                <a:solidFill>
                  <a:srgbClr val="1E3A66"/>
                </a:solidFill>
                <a:latin typeface="Microsoft JhengHei"/>
                <a:ea typeface="Microsoft JhengHei"/>
                <a:cs typeface="Microsoft JhengHei"/>
              </a:rPr>
              <a:t>人</a:t>
            </a:r>
          </a:p>
          <a:p>
            <a:pPr algn="ctr" defTabSz="609630">
              <a:defRPr sz="2100" b="1">
                <a:solidFill>
                  <a:srgbClr val="1E3A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33" b="1">
                <a:solidFill>
                  <a:srgbClr val="1E3A66"/>
                </a:solidFill>
                <a:latin typeface="Microsoft JhengHei"/>
                <a:ea typeface="Microsoft JhengHei"/>
                <a:cs typeface="Microsoft JhengHei"/>
              </a:rPr>
              <a:t>定義問題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E8ED150-0370-02D5-A609-EC55D80AFE61}"/>
              </a:ext>
            </a:extLst>
          </p:cNvPr>
          <p:cNvSpPr>
            <a:spLocks noGrp="1"/>
          </p:cNvSpPr>
          <p:nvPr/>
        </p:nvSpPr>
        <p:spPr>
          <a:xfrm>
            <a:off x="4230445" y="3448953"/>
            <a:ext cx="536743" cy="44210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 defTabSz="609630">
              <a:defRPr sz="3150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67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43" name="矩形: 圓角 42">
            <a:extLst>
              <a:ext uri="{FF2B5EF4-FFF2-40B4-BE49-F238E27FC236}">
                <a16:creationId xmlns:a16="http://schemas.microsoft.com/office/drawing/2014/main" id="{918884F5-279B-2DA7-4E3C-480A3E84F274}"/>
              </a:ext>
            </a:extLst>
          </p:cNvPr>
          <p:cNvSpPr>
            <a:spLocks noGrp="1"/>
          </p:cNvSpPr>
          <p:nvPr/>
        </p:nvSpPr>
        <p:spPr>
          <a:xfrm>
            <a:off x="4943776" y="3276119"/>
            <a:ext cx="1928920" cy="817646"/>
          </a:xfrm>
          <a:prstGeom prst="roundRect">
            <a:avLst>
              <a:gd name="adj" fmla="val 5333"/>
            </a:avLst>
          </a:prstGeom>
          <a:solidFill>
            <a:srgbClr val="E7F6F1"/>
          </a:solidFill>
          <a:ln w="19050">
            <a:solidFill>
              <a:srgbClr val="167D7F"/>
            </a:solidFill>
            <a:prstDash val="solid"/>
          </a:ln>
        </p:spPr>
        <p:txBody>
          <a:bodyPr/>
          <a:lstStyle/>
          <a:p>
            <a:pPr algn="ctr" defTabSz="609630">
              <a:defRPr sz="2100" b="1">
                <a:solidFill>
                  <a:srgbClr val="167D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33" b="1">
                <a:solidFill>
                  <a:srgbClr val="167D7F"/>
                </a:solidFill>
                <a:latin typeface="Microsoft JhengHei"/>
                <a:ea typeface="Microsoft JhengHei"/>
                <a:cs typeface="Microsoft JhengHei"/>
              </a:rPr>
              <a:t>AI</a:t>
            </a:r>
          </a:p>
          <a:p>
            <a:pPr algn="ctr" defTabSz="609630">
              <a:defRPr sz="2100" b="1">
                <a:solidFill>
                  <a:srgbClr val="167D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33" b="1" err="1">
                <a:solidFill>
                  <a:srgbClr val="167D7F"/>
                </a:solidFill>
                <a:latin typeface="Microsoft JhengHei"/>
                <a:ea typeface="Microsoft JhengHei"/>
                <a:cs typeface="Microsoft JhengHei"/>
              </a:rPr>
              <a:t>承接任務</a:t>
            </a:r>
            <a:endParaRPr sz="2133" b="1">
              <a:solidFill>
                <a:srgbClr val="167D7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BF3E951-D46F-CDD6-3759-3E165AC1038B}"/>
              </a:ext>
            </a:extLst>
          </p:cNvPr>
          <p:cNvSpPr>
            <a:spLocks noGrp="1"/>
          </p:cNvSpPr>
          <p:nvPr/>
        </p:nvSpPr>
        <p:spPr>
          <a:xfrm>
            <a:off x="6969831" y="3448953"/>
            <a:ext cx="536743" cy="44210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 defTabSz="609630">
              <a:defRPr sz="3150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67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45" name="矩形: 圓角 44">
            <a:extLst>
              <a:ext uri="{FF2B5EF4-FFF2-40B4-BE49-F238E27FC236}">
                <a16:creationId xmlns:a16="http://schemas.microsoft.com/office/drawing/2014/main" id="{C78271DD-CDFD-BC8F-BB8E-306B419EB818}"/>
              </a:ext>
            </a:extLst>
          </p:cNvPr>
          <p:cNvSpPr>
            <a:spLocks noGrp="1"/>
          </p:cNvSpPr>
          <p:nvPr/>
        </p:nvSpPr>
        <p:spPr>
          <a:xfrm>
            <a:off x="7682680" y="3276118"/>
            <a:ext cx="1928920" cy="817646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C79200"/>
            </a:solidFill>
            <a:prstDash val="solid"/>
          </a:ln>
        </p:spPr>
        <p:txBody>
          <a:bodyPr/>
          <a:lstStyle/>
          <a:p>
            <a:pPr algn="ctr" defTabSz="609630">
              <a:defRPr sz="2100" b="1">
                <a:solidFill>
                  <a:srgbClr val="C792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33" b="1">
                <a:solidFill>
                  <a:srgbClr val="C79200"/>
                </a:solidFill>
                <a:latin typeface="Microsoft JhengHei"/>
                <a:ea typeface="Microsoft JhengHei"/>
                <a:cs typeface="Microsoft JhengHei"/>
              </a:rPr>
              <a:t>人</a:t>
            </a:r>
          </a:p>
          <a:p>
            <a:pPr algn="ctr" defTabSz="609630">
              <a:defRPr sz="2100" b="1">
                <a:solidFill>
                  <a:srgbClr val="C792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133" b="1" err="1">
                <a:solidFill>
                  <a:srgbClr val="C79200"/>
                </a:solidFill>
                <a:latin typeface="Microsoft JhengHei"/>
                <a:ea typeface="Microsoft JhengHei"/>
                <a:cs typeface="Microsoft JhengHei"/>
              </a:rPr>
              <a:t>驗收決策</a:t>
            </a:r>
            <a:endParaRPr sz="2133" b="1">
              <a:solidFill>
                <a:srgbClr val="C79200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234CEFA9-14DB-57F2-1345-C390D347506F}"/>
              </a:ext>
            </a:extLst>
          </p:cNvPr>
          <p:cNvSpPr>
            <a:spLocks noGrp="1"/>
          </p:cNvSpPr>
          <p:nvPr/>
        </p:nvSpPr>
        <p:spPr>
          <a:xfrm>
            <a:off x="4053857" y="5146493"/>
            <a:ext cx="1790700" cy="21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 defTabSz="609630">
              <a:defRPr sz="2025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33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Excel </a:t>
            </a:r>
            <a:r>
              <a:rPr sz="2133" b="1" err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圖表</a:t>
            </a:r>
            <a:endParaRPr sz="2133" b="1">
              <a:solidFill>
                <a:srgbClr val="6B7280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762FE82A-1200-CD09-F9AB-2EAD1E88B468}"/>
              </a:ext>
            </a:extLst>
          </p:cNvPr>
          <p:cNvSpPr>
            <a:spLocks noGrp="1"/>
          </p:cNvSpPr>
          <p:nvPr/>
        </p:nvSpPr>
        <p:spPr>
          <a:xfrm>
            <a:off x="1482130" y="5879284"/>
            <a:ext cx="322498" cy="806245"/>
          </a:xfrm>
          <a:prstGeom prst="rect">
            <a:avLst/>
          </a:prstGeom>
          <a:solidFill>
            <a:srgbClr val="1E3A66"/>
          </a:solidFill>
          <a:ln w="0">
            <a:noFill/>
            <a:prstDash val="solid"/>
          </a:ln>
        </p:spPr>
        <p:txBody>
          <a:bodyPr/>
          <a:lstStyle/>
          <a:p>
            <a:pPr defTabSz="609630"/>
            <a:endParaRPr lang="zh-TW" altLang="en-US" sz="1200">
              <a:solidFill>
                <a:prstClr val="black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FD0E0F4A-8AA7-2EB2-9D45-9D40F903A49A}"/>
              </a:ext>
            </a:extLst>
          </p:cNvPr>
          <p:cNvSpPr>
            <a:spLocks noGrp="1"/>
          </p:cNvSpPr>
          <p:nvPr/>
        </p:nvSpPr>
        <p:spPr>
          <a:xfrm>
            <a:off x="2045098" y="5254444"/>
            <a:ext cx="322498" cy="1431085"/>
          </a:xfrm>
          <a:prstGeom prst="rect">
            <a:avLst/>
          </a:prstGeom>
          <a:solidFill>
            <a:srgbClr val="1E3A66"/>
          </a:solidFill>
          <a:ln w="0">
            <a:noFill/>
            <a:prstDash val="solid"/>
          </a:ln>
        </p:spPr>
        <p:txBody>
          <a:bodyPr/>
          <a:lstStyle/>
          <a:p>
            <a:pPr defTabSz="609630"/>
            <a:endParaRPr lang="zh-TW" altLang="en-US" sz="1200">
              <a:solidFill>
                <a:prstClr val="black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626F291F-06D5-CDF0-12BB-EFAFA91FA3E8}"/>
              </a:ext>
            </a:extLst>
          </p:cNvPr>
          <p:cNvSpPr>
            <a:spLocks noGrp="1"/>
          </p:cNvSpPr>
          <p:nvPr/>
        </p:nvSpPr>
        <p:spPr>
          <a:xfrm>
            <a:off x="2608065" y="5516474"/>
            <a:ext cx="322498" cy="1169055"/>
          </a:xfrm>
          <a:prstGeom prst="rect">
            <a:avLst/>
          </a:prstGeom>
          <a:solidFill>
            <a:srgbClr val="1E3A66"/>
          </a:solidFill>
          <a:ln w="0">
            <a:noFill/>
            <a:prstDash val="solid"/>
          </a:ln>
        </p:spPr>
        <p:txBody>
          <a:bodyPr/>
          <a:lstStyle/>
          <a:p>
            <a:pPr defTabSz="609630"/>
            <a:endParaRPr lang="zh-TW" altLang="en-US" sz="1200">
              <a:solidFill>
                <a:prstClr val="black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08698355-7A9A-A1F0-C13D-6968AEB4470A}"/>
              </a:ext>
            </a:extLst>
          </p:cNvPr>
          <p:cNvSpPr>
            <a:spLocks noGrp="1"/>
          </p:cNvSpPr>
          <p:nvPr/>
        </p:nvSpPr>
        <p:spPr>
          <a:xfrm>
            <a:off x="3171032" y="4772007"/>
            <a:ext cx="322498" cy="1914832"/>
          </a:xfrm>
          <a:prstGeom prst="rect">
            <a:avLst/>
          </a:prstGeom>
          <a:solidFill>
            <a:srgbClr val="C79200"/>
          </a:solidFill>
          <a:ln w="0">
            <a:noFill/>
            <a:prstDash val="solid"/>
          </a:ln>
        </p:spPr>
        <p:txBody>
          <a:bodyPr/>
          <a:lstStyle/>
          <a:p>
            <a:pPr defTabSz="609630"/>
            <a:endParaRPr lang="zh-TW" altLang="en-US" sz="1200">
              <a:solidFill>
                <a:prstClr val="black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61" name="直線接點 60">
            <a:extLst>
              <a:ext uri="{FF2B5EF4-FFF2-40B4-BE49-F238E27FC236}">
                <a16:creationId xmlns:a16="http://schemas.microsoft.com/office/drawing/2014/main" id="{9666F294-73C3-3E11-8F80-3D086684908A}"/>
              </a:ext>
            </a:extLst>
          </p:cNvPr>
          <p:cNvSpPr>
            <a:spLocks noGrp="1"/>
          </p:cNvSpPr>
          <p:nvPr/>
        </p:nvSpPr>
        <p:spPr>
          <a:xfrm>
            <a:off x="1367831" y="6681801"/>
            <a:ext cx="2176861" cy="10078"/>
          </a:xfrm>
          <a:prstGeom prst="line">
            <a:avLst/>
          </a:prstGeom>
          <a:noFill/>
          <a:ln w="19050">
            <a:solidFill>
              <a:srgbClr val="D8DEE6"/>
            </a:solidFill>
            <a:prstDash val="solid"/>
          </a:ln>
        </p:spPr>
        <p:txBody>
          <a:bodyPr/>
          <a:lstStyle/>
          <a:p>
            <a:pPr defTabSz="609630"/>
            <a:endParaRPr lang="zh-TW" altLang="en-US" sz="1200">
              <a:solidFill>
                <a:prstClr val="black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pic>
        <p:nvPicPr>
          <p:cNvPr id="73" name="圖形 72" descr="箭號: 順時針曲線 以實心填滿">
            <a:extLst>
              <a:ext uri="{FF2B5EF4-FFF2-40B4-BE49-F238E27FC236}">
                <a16:creationId xmlns:a16="http://schemas.microsoft.com/office/drawing/2014/main" id="{246270BF-FF7F-7360-2B5A-3A3C407AD4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6567896" y="5168525"/>
            <a:ext cx="609600" cy="989591"/>
          </a:xfrm>
          <a:prstGeom prst="rect">
            <a:avLst/>
          </a:prstGeom>
        </p:spPr>
      </p:pic>
      <p:sp>
        <p:nvSpPr>
          <p:cNvPr id="74" name="矩形 73">
            <a:extLst>
              <a:ext uri="{FF2B5EF4-FFF2-40B4-BE49-F238E27FC236}">
                <a16:creationId xmlns:a16="http://schemas.microsoft.com/office/drawing/2014/main" id="{6B606903-C27B-2B29-2FF6-F28EB89C1D58}"/>
              </a:ext>
            </a:extLst>
          </p:cNvPr>
          <p:cNvSpPr>
            <a:spLocks noGrp="1"/>
          </p:cNvSpPr>
          <p:nvPr/>
        </p:nvSpPr>
        <p:spPr>
          <a:xfrm>
            <a:off x="7444317" y="5439075"/>
            <a:ext cx="3213132" cy="4137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 defTabSz="609630">
              <a:defRPr sz="2025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2400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What if AI can…</a:t>
            </a:r>
            <a:endParaRPr sz="2400" b="1">
              <a:solidFill>
                <a:srgbClr val="6B7280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3349F51-4895-C8F8-04CE-DE677F410A9B}"/>
              </a:ext>
            </a:extLst>
          </p:cNvPr>
          <p:cNvSpPr txBox="1"/>
          <p:nvPr/>
        </p:nvSpPr>
        <p:spPr>
          <a:xfrm>
            <a:off x="1817864" y="5650086"/>
            <a:ext cx="6262687" cy="66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630">
              <a:defRPr sz="12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1867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經典柱狀圖</a:t>
            </a:r>
          </a:p>
          <a:p>
            <a:pPr algn="ctr" defTabSz="609630">
              <a:defRPr sz="12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1867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  人手整理、拉圖、比大小</a:t>
            </a:r>
          </a:p>
        </p:txBody>
      </p:sp>
    </p:spTree>
    <p:extLst>
      <p:ext uri="{BB962C8B-B14F-4D97-AF65-F5344CB8AC3E}">
        <p14:creationId xmlns:p14="http://schemas.microsoft.com/office/powerpoint/2010/main" val="3281896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F70A9-14F4-D6DC-0154-BBBA231B5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群組 62">
            <a:extLst>
              <a:ext uri="{FF2B5EF4-FFF2-40B4-BE49-F238E27FC236}">
                <a16:creationId xmlns:a16="http://schemas.microsoft.com/office/drawing/2014/main" id="{0F492FF6-3F22-D3F8-B060-C17F4F478553}"/>
              </a:ext>
            </a:extLst>
          </p:cNvPr>
          <p:cNvGrpSpPr/>
          <p:nvPr/>
        </p:nvGrpSpPr>
        <p:grpSpPr>
          <a:xfrm>
            <a:off x="1" y="183482"/>
            <a:ext cx="11564981" cy="417987"/>
            <a:chOff x="671322" y="492959"/>
            <a:chExt cx="11564980" cy="417987"/>
          </a:xfrm>
        </p:grpSpPr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FA3BBBAC-D7E3-4265-C125-7859654A55D7}"/>
                </a:ext>
              </a:extLst>
            </p:cNvPr>
            <p:cNvSpPr/>
            <p:nvPr/>
          </p:nvSpPr>
          <p:spPr>
            <a:xfrm>
              <a:off x="922811" y="530557"/>
              <a:ext cx="11313491" cy="342791"/>
            </a:xfrm>
            <a:prstGeom prst="rect">
              <a:avLst/>
            </a:prstGeom>
            <a:noFill/>
          </p:spPr>
          <p:txBody>
            <a:bodyPr lIns="70199" tIns="35100" rIns="70199" bIns="35100" anchor="ctr"/>
            <a:lstStyle/>
            <a:p>
              <a:pPr defTabSz="609630">
                <a:defRPr sz="2025" b="1">
                  <a:solidFill>
                    <a:srgbClr val="111111"/>
                  </a:solidFill>
                  <a:latin typeface="Microsoft JhengHei"/>
                  <a:ea typeface="Microsoft JhengHei"/>
                  <a:cs typeface="Microsoft JhengHei"/>
                </a:defRPr>
              </a:pPr>
              <a:r>
                <a:rPr lang="en-US" altLang="zh-TW" sz="3200" b="1">
                  <a:solidFill>
                    <a:srgbClr val="111111"/>
                  </a:solidFill>
                  <a:latin typeface="Microsoft JhengHei"/>
                  <a:ea typeface="Microsoft JhengHei"/>
                  <a:cs typeface="Microsoft JhengHei"/>
                </a:rPr>
                <a:t>AI </a:t>
              </a:r>
              <a:r>
                <a:rPr lang="zh-TW" altLang="en-US" sz="3200" b="1">
                  <a:solidFill>
                    <a:srgbClr val="111111"/>
                  </a:solidFill>
                  <a:latin typeface="Microsoft JhengHei"/>
                  <a:ea typeface="Microsoft JhengHei"/>
                  <a:cs typeface="Microsoft JhengHei"/>
                </a:rPr>
                <a:t>承接的，不是報告，而是整條分析工作流</a:t>
              </a:r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C2DD657B-4ED1-462A-70BA-BC40E77CC9AC}"/>
                </a:ext>
              </a:extLst>
            </p:cNvPr>
            <p:cNvSpPr/>
            <p:nvPr/>
          </p:nvSpPr>
          <p:spPr>
            <a:xfrm>
              <a:off x="671322" y="492959"/>
              <a:ext cx="188768" cy="417987"/>
            </a:xfrm>
            <a:prstGeom prst="rect">
              <a:avLst/>
            </a:prstGeom>
            <a:solidFill>
              <a:srgbClr val="4AC1A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02083">
                <a:defRPr/>
              </a:pPr>
              <a:endParaRPr lang="zh-TW" altLang="en-US" sz="1382">
                <a:solidFill>
                  <a:prstClr val="white"/>
                </a:solidFill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</p:grpSp>
      <p:sp>
        <p:nvSpPr>
          <p:cNvPr id="66" name="矩形 65">
            <a:extLst>
              <a:ext uri="{FF2B5EF4-FFF2-40B4-BE49-F238E27FC236}">
                <a16:creationId xmlns:a16="http://schemas.microsoft.com/office/drawing/2014/main" id="{94BE6EAD-A9EC-22C3-1E8F-4D2363F8A2B8}"/>
              </a:ext>
            </a:extLst>
          </p:cNvPr>
          <p:cNvSpPr/>
          <p:nvPr/>
        </p:nvSpPr>
        <p:spPr>
          <a:xfrm>
            <a:off x="-291348" y="470244"/>
            <a:ext cx="12520574" cy="484393"/>
          </a:xfrm>
          <a:prstGeom prst="rect">
            <a:avLst/>
          </a:prstGeom>
          <a:gradFill>
            <a:gsLst>
              <a:gs pos="917">
                <a:srgbClr val="9BDDCC">
                  <a:alpha val="4000"/>
                </a:srgbClr>
              </a:gs>
              <a:gs pos="99083">
                <a:schemeClr val="accent6">
                  <a:lumMod val="40000"/>
                  <a:lumOff val="60000"/>
                  <a:alpha val="0"/>
                </a:schemeClr>
              </a:gs>
              <a:gs pos="70000">
                <a:srgbClr val="9BDDCC">
                  <a:alpha val="25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>
              <a:defRPr/>
            </a:pPr>
            <a:r>
              <a:rPr lang="en-US" altLang="zh-TW">
                <a:solidFill>
                  <a:prstClr val="white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=</a:t>
            </a:r>
            <a:endParaRPr lang="zh-TW" altLang="en-US">
              <a:solidFill>
                <a:prstClr val="white"/>
              </a:solidFill>
              <a:latin typeface="Arial" panose="020B060402020202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2">
            <a:extLst>
              <a:ext uri="{FF2B5EF4-FFF2-40B4-BE49-F238E27FC236}">
                <a16:creationId xmlns:a16="http://schemas.microsoft.com/office/drawing/2014/main" id="{8E07E52B-8397-ED37-5728-0E644080ABAD}"/>
              </a:ext>
            </a:extLst>
          </p:cNvPr>
          <p:cNvSpPr txBox="1">
            <a:spLocks/>
          </p:cNvSpPr>
          <p:nvPr/>
        </p:nvSpPr>
        <p:spPr>
          <a:xfrm>
            <a:off x="9292800" y="642072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914446">
              <a:defRPr/>
            </a:pPr>
            <a:fld id="{C943E751-5AFC-0141-B0E4-D3EAC645F84F}" type="slidenum">
              <a:rPr kumimoji="1" lang="zh-TW" altLang="en-US" sz="1867">
                <a:solidFill>
                  <a:prstClr val="black">
                    <a:lumMod val="50000"/>
                  </a:prstClr>
                </a:solidFill>
                <a:latin typeface="Bahnschrift Condensed" panose="020B0502040204020203" pitchFamily="34" charset="0"/>
                <a:ea typeface="微軟正黑體"/>
              </a:rPr>
              <a:pPr algn="r" defTabSz="914446">
                <a:defRPr/>
              </a:pPr>
              <a:t>3</a:t>
            </a:fld>
            <a:endParaRPr kumimoji="1" lang="zh-TW" altLang="en-US" sz="1867">
              <a:solidFill>
                <a:prstClr val="black">
                  <a:lumMod val="50000"/>
                </a:prstClr>
              </a:solidFill>
              <a:latin typeface="Bahnschrift Condensed" panose="020B0502040204020203" pitchFamily="34" charset="0"/>
              <a:ea typeface="微軟正黑體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49B44DD6-8AB3-F537-26BD-9F8AFAC58DD6}"/>
              </a:ext>
            </a:extLst>
          </p:cNvPr>
          <p:cNvSpPr>
            <a:spLocks noGrp="1"/>
          </p:cNvSpPr>
          <p:nvPr/>
        </p:nvSpPr>
        <p:spPr>
          <a:xfrm>
            <a:off x="901700" y="2676241"/>
            <a:ext cx="1397000" cy="17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 defTabSz="609630">
              <a:defRPr sz="1125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defRPr>
            </a:pPr>
            <a:endParaRPr sz="750">
              <a:solidFill>
                <a:srgbClr val="6B7280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12D59EF-8B41-173C-29B5-DADEB766C7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81" t="14901" r="8187" b="15728"/>
          <a:stretch>
            <a:fillRect/>
          </a:stretch>
        </p:blipFill>
        <p:spPr>
          <a:xfrm>
            <a:off x="336770" y="1292069"/>
            <a:ext cx="6960781" cy="3438975"/>
          </a:xfrm>
          <a:prstGeom prst="roundRect">
            <a:avLst>
              <a:gd name="adj" fmla="val 1702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7FB8292-6174-E8D5-44FF-501F9B73725E}"/>
              </a:ext>
            </a:extLst>
          </p:cNvPr>
          <p:cNvSpPr>
            <a:spLocks noGrp="1"/>
          </p:cNvSpPr>
          <p:nvPr/>
        </p:nvSpPr>
        <p:spPr>
          <a:xfrm>
            <a:off x="542642" y="5336797"/>
            <a:ext cx="6549038" cy="7784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 defTabSz="609630">
              <a:defRPr sz="1725" b="1">
                <a:solidFill>
                  <a:srgbClr val="1E3A66"/>
                </a:solidFill>
                <a:latin typeface="Microsoft JhengHei"/>
                <a:ea typeface="Microsoft JhengHei"/>
                <a:cs typeface="Microsoft JhengHei"/>
              </a:defRPr>
            </a:pPr>
            <a:endParaRPr sz="1150" b="1">
              <a:solidFill>
                <a:srgbClr val="1E3A66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5ACFB94-218A-8560-4C9B-C59D953251DD}"/>
              </a:ext>
            </a:extLst>
          </p:cNvPr>
          <p:cNvSpPr>
            <a:spLocks noGrp="1"/>
          </p:cNvSpPr>
          <p:nvPr/>
        </p:nvSpPr>
        <p:spPr>
          <a:xfrm>
            <a:off x="354706" y="4784573"/>
            <a:ext cx="7006717" cy="181871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defTabSz="609630">
              <a:lnSpc>
                <a:spcPct val="200000"/>
              </a:lnSpc>
              <a:defRPr sz="1725" b="1">
                <a:solidFill>
                  <a:srgbClr val="1E3A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1600" b="1">
                <a:solidFill>
                  <a:srgbClr val="1E3A66"/>
                </a:solidFill>
                <a:latin typeface="Microsoft JhengHei"/>
                <a:ea typeface="Microsoft JhengHei"/>
                <a:cs typeface="Microsoft JhengHei"/>
              </a:rPr>
              <a:t>從</a:t>
            </a:r>
            <a:r>
              <a:rPr lang="zh-TW" altLang="en-US" sz="2133" b="1">
                <a:solidFill>
                  <a:srgbClr val="1E3A66"/>
                </a:solidFill>
                <a:latin typeface="Microsoft JhengHei"/>
                <a:ea typeface="Microsoft JhengHei"/>
                <a:cs typeface="Microsoft JhengHei"/>
              </a:rPr>
              <a:t>「手動抓資料、製作及整理圖表」</a:t>
            </a:r>
          </a:p>
          <a:p>
            <a:pPr defTabSz="609630">
              <a:lnSpc>
                <a:spcPct val="200000"/>
              </a:lnSpc>
              <a:defRPr sz="1725" b="1">
                <a:solidFill>
                  <a:srgbClr val="1E3A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1600" b="1">
                <a:solidFill>
                  <a:srgbClr val="1E3A66"/>
                </a:solidFill>
                <a:latin typeface="Microsoft JhengHei"/>
                <a:ea typeface="Microsoft JhengHei"/>
                <a:cs typeface="Microsoft JhengHei"/>
              </a:rPr>
              <a:t>到開始</a:t>
            </a:r>
            <a:r>
              <a:rPr lang="zh-TW" altLang="en-US" sz="2133" b="1">
                <a:solidFill>
                  <a:srgbClr val="1E3A66"/>
                </a:solidFill>
                <a:latin typeface="Microsoft JhengHei"/>
                <a:ea typeface="Microsoft JhengHei"/>
                <a:cs typeface="Microsoft JhengHei"/>
              </a:rPr>
              <a:t>「指揮 </a:t>
            </a:r>
            <a:r>
              <a:rPr lang="en-US" altLang="zh-TW" sz="2133" b="1">
                <a:solidFill>
                  <a:srgbClr val="1E3A66"/>
                </a:solidFill>
                <a:latin typeface="Microsoft JhengHei"/>
                <a:ea typeface="Microsoft JhengHei"/>
                <a:cs typeface="Microsoft JhengHei"/>
              </a:rPr>
              <a:t>AI </a:t>
            </a:r>
            <a:r>
              <a:rPr lang="zh-TW" altLang="en-US" sz="2133" b="1">
                <a:solidFill>
                  <a:srgbClr val="1E3A66"/>
                </a:solidFill>
                <a:latin typeface="Microsoft JhengHei"/>
                <a:ea typeface="Microsoft JhengHei"/>
                <a:cs typeface="Microsoft JhengHei"/>
              </a:rPr>
              <a:t>形成一份可閱讀、可討論的報告」</a:t>
            </a:r>
          </a:p>
          <a:p>
            <a:pPr defTabSz="609630">
              <a:lnSpc>
                <a:spcPct val="200000"/>
              </a:lnSpc>
              <a:defRPr sz="1725" b="1">
                <a:solidFill>
                  <a:srgbClr val="1E3A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1600" b="1">
                <a:solidFill>
                  <a:srgbClr val="1E3A66"/>
                </a:solidFill>
                <a:latin typeface="Microsoft JhengHei"/>
                <a:ea typeface="Microsoft JhengHei"/>
                <a:cs typeface="Microsoft JhengHei"/>
              </a:rPr>
              <a:t>進一步轉換</a:t>
            </a:r>
            <a:r>
              <a:rPr lang="zh-TW" altLang="en-US" sz="2133" b="1">
                <a:solidFill>
                  <a:srgbClr val="1E3A66"/>
                </a:solidFill>
                <a:latin typeface="Microsoft JhengHei"/>
                <a:ea typeface="Microsoft JhengHei"/>
                <a:cs typeface="Microsoft JhengHei"/>
              </a:rPr>
              <a:t>「指揮 </a:t>
            </a:r>
            <a:r>
              <a:rPr lang="en-US" altLang="zh-TW" sz="2133" b="1">
                <a:solidFill>
                  <a:srgbClr val="1E3A66"/>
                </a:solidFill>
                <a:latin typeface="Microsoft JhengHei"/>
                <a:ea typeface="Microsoft JhengHei"/>
                <a:cs typeface="Microsoft JhengHei"/>
              </a:rPr>
              <a:t>AI </a:t>
            </a:r>
            <a:r>
              <a:rPr lang="zh-TW" altLang="en-US" sz="2133" b="1">
                <a:solidFill>
                  <a:srgbClr val="1E3A66"/>
                </a:solidFill>
                <a:latin typeface="Microsoft JhengHei"/>
                <a:ea typeface="Microsoft JhengHei"/>
                <a:cs typeface="Microsoft JhengHei"/>
              </a:rPr>
              <a:t>將事實轉譯成新型態的資訊傳遞方式」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C6A1116-D16C-1316-A687-E694841F45BB}"/>
              </a:ext>
            </a:extLst>
          </p:cNvPr>
          <p:cNvSpPr txBox="1"/>
          <p:nvPr/>
        </p:nvSpPr>
        <p:spPr>
          <a:xfrm>
            <a:off x="7631167" y="894927"/>
            <a:ext cx="4404833" cy="568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630">
              <a:lnSpc>
                <a:spcPct val="150000"/>
              </a:lnSpc>
            </a:pPr>
            <a:r>
              <a:rPr lang="en-US" altLang="zh-TW" sz="2133" b="1">
                <a:solidFill>
                  <a:srgbClr val="16395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 </a:t>
            </a:r>
            <a:r>
              <a:rPr lang="zh-TW" altLang="en-US" sz="2133" b="1">
                <a:solidFill>
                  <a:srgbClr val="16395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工作派工單</a:t>
            </a:r>
            <a:r>
              <a:rPr lang="en-US" altLang="zh-TW" sz="2133" b="1">
                <a:solidFill>
                  <a:srgbClr val="4472C4">
                    <a:lumMod val="50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[prompt]</a:t>
            </a:r>
            <a:endParaRPr lang="zh-TW" altLang="en-US" sz="2133" b="1">
              <a:solidFill>
                <a:srgbClr val="4472C4">
                  <a:lumMod val="50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defTabSz="609630">
              <a:lnSpc>
                <a:spcPct val="150000"/>
              </a:lnSpc>
            </a:pPr>
            <a:r>
              <a:rPr lang="zh-TW" altLang="en-US" sz="2400" b="1">
                <a:solidFill>
                  <a:srgbClr val="0F2F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目標</a:t>
            </a:r>
            <a:r>
              <a:rPr lang="zh-TW" altLang="en-US" sz="2133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133" b="1">
                <a:solidFill>
                  <a:srgbClr val="0F2F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133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看懂人口變化如何影響壽險需求</a:t>
            </a:r>
            <a:endParaRPr lang="zh-TW" altLang="en-US" sz="2133">
              <a:solidFill>
                <a:schemeClr val="bg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defTabSz="609630">
              <a:lnSpc>
                <a:spcPct val="150000"/>
              </a:lnSpc>
            </a:pPr>
            <a:r>
              <a:rPr lang="zh-TW" altLang="en-US" sz="2400" b="1">
                <a:solidFill>
                  <a:srgbClr val="0F2F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</a:t>
            </a:r>
            <a:r>
              <a:rPr lang="zh-TW" altLang="en-US" sz="2133" b="1">
                <a:solidFill>
                  <a:srgbClr val="0F2F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</a:t>
            </a:r>
            <a:r>
              <a:rPr lang="zh-TW" altLang="en-US" sz="1867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國發會、戶政司、主計總處</a:t>
            </a:r>
            <a:endParaRPr lang="zh-TW" altLang="en-US" sz="2133">
              <a:solidFill>
                <a:schemeClr val="bg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defTabSz="609630">
              <a:lnSpc>
                <a:spcPct val="150000"/>
              </a:lnSpc>
            </a:pPr>
            <a:r>
              <a:rPr lang="zh-TW" altLang="en-US" sz="2400" b="1">
                <a:solidFill>
                  <a:srgbClr val="0F2F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標示  </a:t>
            </a:r>
            <a:r>
              <a:rPr lang="zh-TW" altLang="en-US" sz="2133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867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來源、年份、真實／推估來源</a:t>
            </a:r>
            <a:endParaRPr lang="en-US" altLang="zh-TW" sz="1867">
              <a:solidFill>
                <a:schemeClr val="bg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defTabSz="609630">
              <a:lnSpc>
                <a:spcPct val="150000"/>
              </a:lnSpc>
            </a:pPr>
            <a:r>
              <a:rPr lang="zh-TW" altLang="en-US" sz="1867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區分清楚</a:t>
            </a:r>
            <a:endParaRPr lang="zh-TW" altLang="en-US" sz="2133">
              <a:solidFill>
                <a:schemeClr val="bg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defTabSz="609630">
              <a:lnSpc>
                <a:spcPct val="150000"/>
              </a:lnSpc>
            </a:pPr>
            <a:r>
              <a:rPr lang="zh-TW" altLang="en-US" sz="2400" b="1">
                <a:solidFill>
                  <a:srgbClr val="0F2F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分析</a:t>
            </a:r>
            <a:r>
              <a:rPr lang="zh-TW" altLang="en-US" sz="2133" b="1">
                <a:solidFill>
                  <a:srgbClr val="0F2F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sz="2133" b="1">
                <a:solidFill>
                  <a:srgbClr val="0F2F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867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老化、少子化、家庭、所得、</a:t>
            </a:r>
            <a:endParaRPr lang="en-US" altLang="zh-TW" sz="1867">
              <a:solidFill>
                <a:schemeClr val="bg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defTabSz="609630">
              <a:lnSpc>
                <a:spcPct val="150000"/>
              </a:lnSpc>
            </a:pPr>
            <a:r>
              <a:rPr lang="zh-TW" altLang="en-US" sz="1867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區域 </a:t>
            </a:r>
            <a:r>
              <a:rPr lang="en-US" altLang="zh-TW" sz="1867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 </a:t>
            </a:r>
            <a:r>
              <a:rPr lang="zh-TW" altLang="en-US" sz="1867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對比差異</a:t>
            </a:r>
          </a:p>
          <a:p>
            <a:pPr defTabSz="609630">
              <a:lnSpc>
                <a:spcPct val="150000"/>
              </a:lnSpc>
            </a:pPr>
            <a:r>
              <a:rPr lang="zh-TW" altLang="en-US" sz="2400" b="1">
                <a:solidFill>
                  <a:srgbClr val="0F2F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產出</a:t>
            </a:r>
            <a:r>
              <a:rPr lang="zh-TW" altLang="en-US" sz="2133" b="1">
                <a:solidFill>
                  <a:srgbClr val="0F2F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sz="2133" b="1">
                <a:solidFill>
                  <a:srgbClr val="0F2F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867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視覺化互動分析報告、</a:t>
            </a:r>
            <a:endParaRPr lang="en-US" altLang="zh-TW" sz="1867">
              <a:solidFill>
                <a:schemeClr val="bg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defTabSz="609630">
              <a:lnSpc>
                <a:spcPct val="150000"/>
              </a:lnSpc>
            </a:pPr>
            <a:r>
              <a:rPr lang="zh-TW" altLang="en-US" sz="1867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新型態資訊劇場</a:t>
            </a:r>
          </a:p>
          <a:p>
            <a:pPr defTabSz="609630">
              <a:lnSpc>
                <a:spcPct val="150000"/>
              </a:lnSpc>
            </a:pPr>
            <a:r>
              <a:rPr lang="zh-TW" altLang="en-US" sz="2400" b="1">
                <a:solidFill>
                  <a:srgbClr val="0F2F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限制</a:t>
            </a:r>
            <a:r>
              <a:rPr lang="zh-TW" altLang="en-US" sz="2133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133" b="1">
                <a:solidFill>
                  <a:srgbClr val="0F2F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133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867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禁止假資料，不把推論當事實</a:t>
            </a:r>
            <a:endParaRPr lang="zh-TW" altLang="en-US" sz="2133">
              <a:solidFill>
                <a:schemeClr val="bg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defTabSz="609630">
              <a:lnSpc>
                <a:spcPct val="150000"/>
              </a:lnSpc>
            </a:pPr>
            <a:r>
              <a:rPr lang="zh-TW" altLang="en-US" sz="2400" b="1">
                <a:solidFill>
                  <a:srgbClr val="0F2F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驗收</a:t>
            </a:r>
            <a:r>
              <a:rPr lang="zh-TW" altLang="en-US" sz="2133" b="1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133" b="1">
                <a:solidFill>
                  <a:srgbClr val="0F2F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133" b="1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867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來源清楚、邏輯成立、結論明確</a:t>
            </a:r>
            <a:endParaRPr lang="zh-TW" altLang="zh-TW" sz="2133">
              <a:solidFill>
                <a:schemeClr val="bg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6F6D52B2-C9AB-99CF-B6E5-F3363B622376}"/>
              </a:ext>
            </a:extLst>
          </p:cNvPr>
          <p:cNvCxnSpPr>
            <a:cxnSpLocks/>
          </p:cNvCxnSpPr>
          <p:nvPr/>
        </p:nvCxnSpPr>
        <p:spPr>
          <a:xfrm>
            <a:off x="8450076" y="1545557"/>
            <a:ext cx="0" cy="368968"/>
          </a:xfrm>
          <a:prstGeom prst="line">
            <a:avLst/>
          </a:prstGeom>
          <a:ln w="38100">
            <a:solidFill>
              <a:srgbClr val="0F2F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32CFB3D8-FE5B-9E7B-FE61-37700994D57C}"/>
              </a:ext>
            </a:extLst>
          </p:cNvPr>
          <p:cNvCxnSpPr>
            <a:cxnSpLocks/>
          </p:cNvCxnSpPr>
          <p:nvPr/>
        </p:nvCxnSpPr>
        <p:spPr>
          <a:xfrm>
            <a:off x="8450076" y="2117057"/>
            <a:ext cx="0" cy="368968"/>
          </a:xfrm>
          <a:prstGeom prst="line">
            <a:avLst/>
          </a:prstGeom>
          <a:ln w="38100">
            <a:solidFill>
              <a:srgbClr val="0F2F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BEDA048-C3CB-FCA9-96FA-E538DCF110DB}"/>
              </a:ext>
            </a:extLst>
          </p:cNvPr>
          <p:cNvCxnSpPr>
            <a:cxnSpLocks/>
          </p:cNvCxnSpPr>
          <p:nvPr/>
        </p:nvCxnSpPr>
        <p:spPr>
          <a:xfrm>
            <a:off x="8451477" y="2762250"/>
            <a:ext cx="0" cy="666750"/>
          </a:xfrm>
          <a:prstGeom prst="line">
            <a:avLst/>
          </a:prstGeom>
          <a:ln w="38100">
            <a:solidFill>
              <a:srgbClr val="0F2F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FDDB1A02-46C4-304B-73EF-D2DB12800CF1}"/>
              </a:ext>
            </a:extLst>
          </p:cNvPr>
          <p:cNvCxnSpPr>
            <a:cxnSpLocks/>
          </p:cNvCxnSpPr>
          <p:nvPr/>
        </p:nvCxnSpPr>
        <p:spPr>
          <a:xfrm>
            <a:off x="8450076" y="3657600"/>
            <a:ext cx="0" cy="781050"/>
          </a:xfrm>
          <a:prstGeom prst="line">
            <a:avLst/>
          </a:prstGeom>
          <a:ln w="38100">
            <a:solidFill>
              <a:srgbClr val="0F2F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3EFE6EAC-305F-B11C-DA0A-1D78C1BBA85A}"/>
              </a:ext>
            </a:extLst>
          </p:cNvPr>
          <p:cNvCxnSpPr>
            <a:cxnSpLocks/>
          </p:cNvCxnSpPr>
          <p:nvPr/>
        </p:nvCxnSpPr>
        <p:spPr>
          <a:xfrm>
            <a:off x="8450076" y="4650757"/>
            <a:ext cx="0" cy="686040"/>
          </a:xfrm>
          <a:prstGeom prst="line">
            <a:avLst/>
          </a:prstGeom>
          <a:ln w="38100">
            <a:solidFill>
              <a:srgbClr val="0F2F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5F0BEF7E-97CE-406C-95C2-F910249E7A82}"/>
              </a:ext>
            </a:extLst>
          </p:cNvPr>
          <p:cNvCxnSpPr>
            <a:cxnSpLocks/>
          </p:cNvCxnSpPr>
          <p:nvPr/>
        </p:nvCxnSpPr>
        <p:spPr>
          <a:xfrm>
            <a:off x="8450076" y="5628313"/>
            <a:ext cx="0" cy="296237"/>
          </a:xfrm>
          <a:prstGeom prst="line">
            <a:avLst/>
          </a:prstGeom>
          <a:ln w="38100">
            <a:solidFill>
              <a:srgbClr val="0F2F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FB2019AA-3C1D-2A54-F809-B7B076B25873}"/>
              </a:ext>
            </a:extLst>
          </p:cNvPr>
          <p:cNvCxnSpPr>
            <a:cxnSpLocks/>
          </p:cNvCxnSpPr>
          <p:nvPr/>
        </p:nvCxnSpPr>
        <p:spPr>
          <a:xfrm>
            <a:off x="8450076" y="6177244"/>
            <a:ext cx="0" cy="296237"/>
          </a:xfrm>
          <a:prstGeom prst="line">
            <a:avLst/>
          </a:prstGeom>
          <a:ln w="38100">
            <a:solidFill>
              <a:srgbClr val="0F2F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1184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E15B2-5126-F11C-8614-BEA15138C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群組 62">
            <a:extLst>
              <a:ext uri="{FF2B5EF4-FFF2-40B4-BE49-F238E27FC236}">
                <a16:creationId xmlns:a16="http://schemas.microsoft.com/office/drawing/2014/main" id="{D8A835E7-4F51-2FFA-29B3-D7798D1F1B26}"/>
              </a:ext>
            </a:extLst>
          </p:cNvPr>
          <p:cNvGrpSpPr/>
          <p:nvPr/>
        </p:nvGrpSpPr>
        <p:grpSpPr>
          <a:xfrm>
            <a:off x="1" y="183482"/>
            <a:ext cx="11564981" cy="417987"/>
            <a:chOff x="671322" y="492959"/>
            <a:chExt cx="11564980" cy="417987"/>
          </a:xfrm>
        </p:grpSpPr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7DBB232D-D6A3-9A36-8702-C4AF8CD01625}"/>
                </a:ext>
              </a:extLst>
            </p:cNvPr>
            <p:cNvSpPr/>
            <p:nvPr/>
          </p:nvSpPr>
          <p:spPr>
            <a:xfrm>
              <a:off x="922811" y="530557"/>
              <a:ext cx="11313491" cy="342791"/>
            </a:xfrm>
            <a:prstGeom prst="rect">
              <a:avLst/>
            </a:prstGeom>
            <a:noFill/>
          </p:spPr>
          <p:txBody>
            <a:bodyPr lIns="70199" tIns="35100" rIns="70199" bIns="35100" anchor="ctr"/>
            <a:lstStyle/>
            <a:p>
              <a:pPr defTabSz="609630">
                <a:defRPr sz="3038" b="1">
                  <a:solidFill>
                    <a:srgbClr val="111111"/>
                  </a:solidFill>
                  <a:latin typeface="Microsoft JhengHei"/>
                  <a:ea typeface="Microsoft JhengHei"/>
                  <a:cs typeface="Microsoft JhengHei"/>
                </a:defRPr>
              </a:pPr>
              <a:r>
                <a:rPr lang="en-US" altLang="zh-TW" sz="3200" b="1">
                  <a:solidFill>
                    <a:srgbClr val="111111"/>
                  </a:solidFill>
                  <a:latin typeface="Microsoft JhengHei"/>
                  <a:ea typeface="Microsoft JhengHei"/>
                  <a:cs typeface="Microsoft JhengHei"/>
                </a:rPr>
                <a:t>AI </a:t>
              </a:r>
              <a:r>
                <a:rPr lang="zh-TW" altLang="en-US" sz="3200" b="1">
                  <a:solidFill>
                    <a:srgbClr val="111111"/>
                  </a:solidFill>
                  <a:latin typeface="Microsoft JhengHei"/>
                  <a:ea typeface="Microsoft JhengHei"/>
                  <a:cs typeface="Microsoft JhengHei"/>
                </a:rPr>
                <a:t>時代下，交辦標準會決定 </a:t>
              </a:r>
              <a:r>
                <a:rPr lang="en-US" altLang="zh-TW" sz="3200" b="1">
                  <a:solidFill>
                    <a:srgbClr val="111111"/>
                  </a:solidFill>
                  <a:latin typeface="Microsoft JhengHei"/>
                  <a:ea typeface="Microsoft JhengHei"/>
                  <a:cs typeface="Microsoft JhengHei"/>
                </a:rPr>
                <a:t>AI </a:t>
              </a:r>
              <a:r>
                <a:rPr lang="zh-TW" altLang="en-US" sz="3200" b="1">
                  <a:solidFill>
                    <a:srgbClr val="111111"/>
                  </a:solidFill>
                  <a:latin typeface="Microsoft JhengHei"/>
                  <a:ea typeface="Microsoft JhengHei"/>
                  <a:cs typeface="Microsoft JhengHei"/>
                </a:rPr>
                <a:t>成果品質</a:t>
              </a:r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B5BD567A-4ACF-A0BA-6FBC-D57330EAD8F5}"/>
                </a:ext>
              </a:extLst>
            </p:cNvPr>
            <p:cNvSpPr/>
            <p:nvPr/>
          </p:nvSpPr>
          <p:spPr>
            <a:xfrm>
              <a:off x="671322" y="492959"/>
              <a:ext cx="188768" cy="417987"/>
            </a:xfrm>
            <a:prstGeom prst="rect">
              <a:avLst/>
            </a:prstGeom>
            <a:solidFill>
              <a:srgbClr val="4AC1A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02083">
                <a:defRPr/>
              </a:pPr>
              <a:endParaRPr lang="zh-TW" altLang="en-US" sz="1382">
                <a:solidFill>
                  <a:prstClr val="white"/>
                </a:solidFill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</p:grpSp>
      <p:sp>
        <p:nvSpPr>
          <p:cNvPr id="66" name="矩形 65">
            <a:extLst>
              <a:ext uri="{FF2B5EF4-FFF2-40B4-BE49-F238E27FC236}">
                <a16:creationId xmlns:a16="http://schemas.microsoft.com/office/drawing/2014/main" id="{30AF502E-701B-6B07-5219-A616529758AB}"/>
              </a:ext>
            </a:extLst>
          </p:cNvPr>
          <p:cNvSpPr/>
          <p:nvPr/>
        </p:nvSpPr>
        <p:spPr>
          <a:xfrm>
            <a:off x="-291348" y="470244"/>
            <a:ext cx="12520574" cy="484393"/>
          </a:xfrm>
          <a:prstGeom prst="rect">
            <a:avLst/>
          </a:prstGeom>
          <a:gradFill>
            <a:gsLst>
              <a:gs pos="917">
                <a:srgbClr val="9BDDCC">
                  <a:alpha val="4000"/>
                </a:srgbClr>
              </a:gs>
              <a:gs pos="99083">
                <a:schemeClr val="accent6">
                  <a:lumMod val="40000"/>
                  <a:lumOff val="60000"/>
                  <a:alpha val="0"/>
                </a:schemeClr>
              </a:gs>
              <a:gs pos="70000">
                <a:srgbClr val="9BDDCC">
                  <a:alpha val="25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>
              <a:defRPr/>
            </a:pPr>
            <a:r>
              <a:rPr lang="en-US" altLang="zh-TW">
                <a:solidFill>
                  <a:prstClr val="white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=</a:t>
            </a:r>
            <a:endParaRPr lang="zh-TW" altLang="en-US">
              <a:solidFill>
                <a:prstClr val="white"/>
              </a:solidFill>
              <a:latin typeface="Arial" panose="020B060402020202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2">
            <a:extLst>
              <a:ext uri="{FF2B5EF4-FFF2-40B4-BE49-F238E27FC236}">
                <a16:creationId xmlns:a16="http://schemas.microsoft.com/office/drawing/2014/main" id="{E6D74C85-A940-4BC0-2637-01372A53B936}"/>
              </a:ext>
            </a:extLst>
          </p:cNvPr>
          <p:cNvSpPr txBox="1">
            <a:spLocks/>
          </p:cNvSpPr>
          <p:nvPr/>
        </p:nvSpPr>
        <p:spPr>
          <a:xfrm>
            <a:off x="9292800" y="642072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914446">
              <a:defRPr/>
            </a:pPr>
            <a:fld id="{C943E751-5AFC-0141-B0E4-D3EAC645F84F}" type="slidenum">
              <a:rPr kumimoji="1" lang="zh-TW" altLang="en-US" sz="1867">
                <a:solidFill>
                  <a:prstClr val="black">
                    <a:lumMod val="50000"/>
                  </a:prstClr>
                </a:solidFill>
                <a:latin typeface="Bahnschrift Condensed" panose="020B0502040204020203" pitchFamily="34" charset="0"/>
                <a:ea typeface="微軟正黑體"/>
              </a:rPr>
              <a:pPr algn="r" defTabSz="914446">
                <a:defRPr/>
              </a:pPr>
              <a:t>4</a:t>
            </a:fld>
            <a:endParaRPr kumimoji="1" lang="zh-TW" altLang="en-US" sz="1867">
              <a:solidFill>
                <a:prstClr val="black">
                  <a:lumMod val="50000"/>
                </a:prstClr>
              </a:solidFill>
              <a:latin typeface="Bahnschrift Condensed" panose="020B0502040204020203" pitchFamily="34" charset="0"/>
              <a:ea typeface="微軟正黑體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3FED3663-1C65-1FCE-792E-BFBA7A307461}"/>
              </a:ext>
            </a:extLst>
          </p:cNvPr>
          <p:cNvSpPr>
            <a:spLocks noGrp="1"/>
          </p:cNvSpPr>
          <p:nvPr/>
        </p:nvSpPr>
        <p:spPr>
          <a:xfrm>
            <a:off x="354967" y="2222197"/>
            <a:ext cx="1397000" cy="17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 defTabSz="609630">
              <a:defRPr sz="1125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defRPr>
            </a:pPr>
            <a:endParaRPr sz="750">
              <a:solidFill>
                <a:srgbClr val="6B7280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A1D856B2-E665-4308-A416-7705010F474F}"/>
              </a:ext>
            </a:extLst>
          </p:cNvPr>
          <p:cNvSpPr>
            <a:spLocks noGrp="1"/>
          </p:cNvSpPr>
          <p:nvPr/>
        </p:nvSpPr>
        <p:spPr>
          <a:xfrm>
            <a:off x="354967" y="2399997"/>
            <a:ext cx="2819400" cy="1466850"/>
          </a:xfrm>
          <a:prstGeom prst="roundRect">
            <a:avLst>
              <a:gd name="adj" fmla="val 5195"/>
            </a:avLst>
          </a:prstGeom>
          <a:solidFill>
            <a:srgbClr val="FFF7ED"/>
          </a:solidFill>
          <a:ln w="20003">
            <a:solidFill>
              <a:srgbClr val="F59E0B"/>
            </a:solidFill>
            <a:prstDash val="solid"/>
          </a:ln>
        </p:spPr>
        <p:txBody>
          <a:bodyPr/>
          <a:lstStyle/>
          <a:p>
            <a:pPr algn="ctr" defTabSz="609630">
              <a:defRPr sz="1688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defRPr>
            </a:pPr>
            <a:endParaRPr lang="zh-TW" altLang="en-US" sz="1125">
              <a:solidFill>
                <a:srgbClr val="6B7280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C3815D8-F28F-48B1-AA23-7DFDBE486A3A}"/>
              </a:ext>
            </a:extLst>
          </p:cNvPr>
          <p:cNvSpPr>
            <a:spLocks noGrp="1"/>
          </p:cNvSpPr>
          <p:nvPr/>
        </p:nvSpPr>
        <p:spPr>
          <a:xfrm>
            <a:off x="583567" y="2477094"/>
            <a:ext cx="2362200" cy="3883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 defTabSz="609630">
              <a:defRPr sz="2813" b="1">
                <a:solidFill>
                  <a:srgbClr val="F59E0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33" b="1" err="1">
                <a:solidFill>
                  <a:srgbClr val="F59E0B"/>
                </a:solidFill>
                <a:latin typeface="Microsoft JhengHei"/>
                <a:ea typeface="Microsoft JhengHei"/>
                <a:cs typeface="Microsoft JhengHei"/>
              </a:rPr>
              <a:t>模糊交辦</a:t>
            </a:r>
            <a:endParaRPr sz="2133" b="1">
              <a:solidFill>
                <a:srgbClr val="F59E0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CF48674-3C60-4DFB-8DEC-5E67DDD6115A}"/>
              </a:ext>
            </a:extLst>
          </p:cNvPr>
          <p:cNvSpPr>
            <a:spLocks noGrp="1"/>
          </p:cNvSpPr>
          <p:nvPr/>
        </p:nvSpPr>
        <p:spPr>
          <a:xfrm>
            <a:off x="583567" y="3043607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 defTabSz="609630">
              <a:defRPr sz="2363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67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「</a:t>
            </a:r>
            <a:r>
              <a:rPr sz="1867" b="1" err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幫我做一份分析</a:t>
            </a:r>
            <a:r>
              <a:rPr sz="1867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」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99554D0-677E-441F-9DE3-9EC93A3CA958}"/>
              </a:ext>
            </a:extLst>
          </p:cNvPr>
          <p:cNvSpPr>
            <a:spLocks noGrp="1"/>
          </p:cNvSpPr>
          <p:nvPr/>
        </p:nvSpPr>
        <p:spPr>
          <a:xfrm>
            <a:off x="583567" y="3398829"/>
            <a:ext cx="2362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 defTabSz="609630">
              <a:defRPr sz="1688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defRPr>
            </a:pPr>
            <a:endParaRPr sz="1125">
              <a:solidFill>
                <a:srgbClr val="6B7280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A541125E-923B-47A8-BF62-D5CD149A9138}"/>
              </a:ext>
            </a:extLst>
          </p:cNvPr>
          <p:cNvSpPr>
            <a:spLocks noGrp="1"/>
          </p:cNvSpPr>
          <p:nvPr/>
        </p:nvSpPr>
        <p:spPr>
          <a:xfrm>
            <a:off x="6990263" y="2349845"/>
            <a:ext cx="4438166" cy="1586504"/>
          </a:xfrm>
          <a:prstGeom prst="roundRect">
            <a:avLst>
              <a:gd name="adj" fmla="val 5195"/>
            </a:avLst>
          </a:prstGeom>
          <a:solidFill>
            <a:srgbClr val="E7F6F1"/>
          </a:solidFill>
          <a:ln w="25718">
            <a:solidFill>
              <a:srgbClr val="167D7F"/>
            </a:solidFill>
            <a:prstDash val="solid"/>
          </a:ln>
        </p:spPr>
        <p:txBody>
          <a:bodyPr/>
          <a:lstStyle/>
          <a:p>
            <a:pPr defTabSz="609630"/>
            <a:endParaRPr lang="zh-TW" altLang="en-US" sz="1200">
              <a:solidFill>
                <a:prstClr val="black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AF08520-684F-4681-A8D6-BE96F7A0EF9D}"/>
              </a:ext>
            </a:extLst>
          </p:cNvPr>
          <p:cNvSpPr>
            <a:spLocks noGrp="1"/>
          </p:cNvSpPr>
          <p:nvPr/>
        </p:nvSpPr>
        <p:spPr>
          <a:xfrm>
            <a:off x="8507974" y="2524110"/>
            <a:ext cx="1402744" cy="3057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 defTabSz="609630">
              <a:defRPr sz="2813" b="1">
                <a:solidFill>
                  <a:srgbClr val="167D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33" b="1" err="1">
                <a:solidFill>
                  <a:srgbClr val="167D7F"/>
                </a:solidFill>
                <a:latin typeface="Microsoft JhengHei"/>
                <a:ea typeface="Microsoft JhengHei"/>
                <a:cs typeface="Microsoft JhengHei"/>
              </a:rPr>
              <a:t>清楚派工</a:t>
            </a:r>
            <a:endParaRPr sz="2133" b="1">
              <a:solidFill>
                <a:srgbClr val="167D7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0D18644F-21F2-4F5E-A5D7-63AF53A259C6}"/>
              </a:ext>
            </a:extLst>
          </p:cNvPr>
          <p:cNvSpPr>
            <a:spLocks noGrp="1"/>
          </p:cNvSpPr>
          <p:nvPr/>
        </p:nvSpPr>
        <p:spPr>
          <a:xfrm>
            <a:off x="1266614" y="5458807"/>
            <a:ext cx="9658773" cy="473403"/>
          </a:xfrm>
          <a:prstGeom prst="roundRect">
            <a:avLst>
              <a:gd name="adj" fmla="val 12903"/>
            </a:avLst>
          </a:prstGeom>
          <a:solidFill>
            <a:srgbClr val="1E3A66"/>
          </a:solidFill>
          <a:ln w="0">
            <a:solidFill>
              <a:srgbClr val="1E3A66"/>
            </a:solidFill>
            <a:prstDash val="solid"/>
          </a:ln>
        </p:spPr>
        <p:txBody>
          <a:bodyPr/>
          <a:lstStyle/>
          <a:p>
            <a:pPr algn="ctr" defTabSz="609630">
              <a:defRPr sz="2588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zh-TW" sz="2400" b="1">
                <a:solidFill>
                  <a:srgbClr val="FFFFFF"/>
                </a:solidFill>
                <a:latin typeface="Microsoft JhengHei"/>
                <a:ea typeface="Microsoft JhengHei"/>
              </a:rPr>
              <a:t>AI 任務也像工作需求一樣：清楚定義、持續追蹤、明確驗收</a:t>
            </a:r>
            <a:endParaRPr lang="zh-TW" altLang="en-US" sz="3200" b="1">
              <a:solidFill>
                <a:srgbClr val="FFFFF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DDB674C-177C-4CF8-B53D-4477223C9E89}"/>
              </a:ext>
            </a:extLst>
          </p:cNvPr>
          <p:cNvSpPr>
            <a:spLocks noGrp="1"/>
          </p:cNvSpPr>
          <p:nvPr/>
        </p:nvSpPr>
        <p:spPr>
          <a:xfrm>
            <a:off x="7126816" y="2932497"/>
            <a:ext cx="4438166" cy="8108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defTabSz="609630">
              <a:lnSpc>
                <a:spcPct val="150000"/>
              </a:lnSpc>
              <a:defRPr sz="2363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67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「</a:t>
            </a:r>
            <a:r>
              <a:rPr sz="1867" b="1" err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哪些資料、回什麼問題、產什麼格式</a:t>
            </a:r>
            <a:br>
              <a:rPr lang="en-US" sz="1867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</a:br>
            <a:r>
              <a:rPr lang="zh-TW" altLang="en-US" sz="1867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、哪些限制、達成標準</a:t>
            </a:r>
            <a:r>
              <a:rPr sz="1867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」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4297B71C-8C64-0B80-5948-238A72E617A2}"/>
              </a:ext>
            </a:extLst>
          </p:cNvPr>
          <p:cNvSpPr txBox="1"/>
          <p:nvPr/>
        </p:nvSpPr>
        <p:spPr>
          <a:xfrm>
            <a:off x="4153324" y="2046075"/>
            <a:ext cx="1689101" cy="420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630"/>
            <a:r>
              <a:rPr lang="zh-TW" altLang="zh-TW" sz="2133" b="1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需求任務化</a:t>
            </a:r>
            <a:endParaRPr lang="zh-TW" altLang="en-US" sz="2133" b="1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FCF3EE8C-22D9-B49C-BCCE-96B3ECD84447}"/>
              </a:ext>
            </a:extLst>
          </p:cNvPr>
          <p:cNvCxnSpPr>
            <a:cxnSpLocks/>
          </p:cNvCxnSpPr>
          <p:nvPr/>
        </p:nvCxnSpPr>
        <p:spPr>
          <a:xfrm>
            <a:off x="3494194" y="2595514"/>
            <a:ext cx="3007360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圖片 49" descr="An image depicting a checklist with a pen and a checkmark next to it, symbolizing completion or approval.&#10;&#10;AI 產生的內容可能不正確。">
            <a:extLst>
              <a:ext uri="{FF2B5EF4-FFF2-40B4-BE49-F238E27FC236}">
                <a16:creationId xmlns:a16="http://schemas.microsoft.com/office/drawing/2014/main" id="{C9D7757E-55F8-5895-84B9-0C43BCCCA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0343" y="3045883"/>
            <a:ext cx="1340896" cy="134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129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B4526-9CD2-1162-6119-F3B0EC9D2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群組 62">
            <a:extLst>
              <a:ext uri="{FF2B5EF4-FFF2-40B4-BE49-F238E27FC236}">
                <a16:creationId xmlns:a16="http://schemas.microsoft.com/office/drawing/2014/main" id="{EA3AE5B2-314A-95F0-AB6B-9DD2A144E57E}"/>
              </a:ext>
            </a:extLst>
          </p:cNvPr>
          <p:cNvGrpSpPr/>
          <p:nvPr/>
        </p:nvGrpSpPr>
        <p:grpSpPr>
          <a:xfrm>
            <a:off x="1" y="183482"/>
            <a:ext cx="11564981" cy="417987"/>
            <a:chOff x="671322" y="492959"/>
            <a:chExt cx="11564980" cy="417987"/>
          </a:xfrm>
        </p:grpSpPr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2905B68F-A14C-E355-A461-7961A682AD0C}"/>
                </a:ext>
              </a:extLst>
            </p:cNvPr>
            <p:cNvSpPr/>
            <p:nvPr/>
          </p:nvSpPr>
          <p:spPr>
            <a:xfrm>
              <a:off x="922811" y="530557"/>
              <a:ext cx="11313491" cy="342791"/>
            </a:xfrm>
            <a:prstGeom prst="rect">
              <a:avLst/>
            </a:prstGeom>
            <a:noFill/>
          </p:spPr>
          <p:txBody>
            <a:bodyPr lIns="70199" tIns="35100" rIns="70199" bIns="35100" anchor="ctr"/>
            <a:lstStyle/>
            <a:p>
              <a:pPr defTabSz="609630">
                <a:defRPr sz="3038" b="1">
                  <a:solidFill>
                    <a:srgbClr val="111111"/>
                  </a:solidFill>
                  <a:latin typeface="Microsoft JhengHei"/>
                  <a:ea typeface="Microsoft JhengHei"/>
                  <a:cs typeface="Microsoft JhengHei"/>
                </a:defRPr>
              </a:pPr>
              <a:r>
                <a:rPr lang="zh-TW" altLang="en-US" sz="3200" b="1">
                  <a:solidFill>
                    <a:srgbClr val="111111"/>
                  </a:solidFill>
                  <a:latin typeface="Microsoft JhengHei"/>
                  <a:ea typeface="Microsoft JhengHei"/>
                  <a:cs typeface="Microsoft JhengHei"/>
                </a:rPr>
                <a:t>把重複工作交給 </a:t>
              </a:r>
              <a:r>
                <a:rPr lang="en-US" altLang="zh-TW" sz="3200" b="1">
                  <a:solidFill>
                    <a:srgbClr val="111111"/>
                  </a:solidFill>
                  <a:latin typeface="Microsoft JhengHei"/>
                  <a:ea typeface="Microsoft JhengHei"/>
                  <a:cs typeface="Microsoft JhengHei"/>
                </a:rPr>
                <a:t>AI</a:t>
              </a:r>
              <a:r>
                <a:rPr lang="zh-TW" altLang="en-US" sz="3200" b="1">
                  <a:solidFill>
                    <a:srgbClr val="111111"/>
                  </a:solidFill>
                  <a:latin typeface="Microsoft JhengHei"/>
                  <a:ea typeface="Microsoft JhengHei"/>
                  <a:cs typeface="Microsoft JhengHei"/>
                </a:rPr>
                <a:t>，把</a:t>
              </a:r>
              <a:r>
                <a:rPr lang="zh-TW" altLang="en-US" sz="3200" b="1">
                  <a:solidFill>
                    <a:srgbClr val="157156"/>
                  </a:solidFill>
                  <a:latin typeface="Microsoft JhengHei"/>
                  <a:ea typeface="Microsoft JhengHei"/>
                  <a:cs typeface="Microsoft JhengHei"/>
                </a:rPr>
                <a:t>專業決策交給人</a:t>
              </a:r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AB7ED3B9-A5B2-2C4E-1D2A-08A4BB19C832}"/>
                </a:ext>
              </a:extLst>
            </p:cNvPr>
            <p:cNvSpPr/>
            <p:nvPr/>
          </p:nvSpPr>
          <p:spPr>
            <a:xfrm>
              <a:off x="671322" y="492959"/>
              <a:ext cx="188768" cy="417987"/>
            </a:xfrm>
            <a:prstGeom prst="rect">
              <a:avLst/>
            </a:prstGeom>
            <a:solidFill>
              <a:srgbClr val="4AC1A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02083">
                <a:defRPr/>
              </a:pPr>
              <a:endParaRPr lang="zh-TW" altLang="en-US" sz="1382">
                <a:solidFill>
                  <a:prstClr val="white"/>
                </a:solidFill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</p:grpSp>
      <p:sp>
        <p:nvSpPr>
          <p:cNvPr id="66" name="矩形 65">
            <a:extLst>
              <a:ext uri="{FF2B5EF4-FFF2-40B4-BE49-F238E27FC236}">
                <a16:creationId xmlns:a16="http://schemas.microsoft.com/office/drawing/2014/main" id="{EAF6DBF6-BB04-D97E-4CB4-980A7209604B}"/>
              </a:ext>
            </a:extLst>
          </p:cNvPr>
          <p:cNvSpPr/>
          <p:nvPr/>
        </p:nvSpPr>
        <p:spPr>
          <a:xfrm>
            <a:off x="-291348" y="470244"/>
            <a:ext cx="12520574" cy="484393"/>
          </a:xfrm>
          <a:prstGeom prst="rect">
            <a:avLst/>
          </a:prstGeom>
          <a:gradFill>
            <a:gsLst>
              <a:gs pos="917">
                <a:srgbClr val="9BDDCC">
                  <a:alpha val="4000"/>
                </a:srgbClr>
              </a:gs>
              <a:gs pos="99083">
                <a:schemeClr val="accent6">
                  <a:lumMod val="40000"/>
                  <a:lumOff val="60000"/>
                  <a:alpha val="0"/>
                </a:schemeClr>
              </a:gs>
              <a:gs pos="70000">
                <a:srgbClr val="9BDDCC">
                  <a:alpha val="25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>
              <a:defRPr/>
            </a:pPr>
            <a:r>
              <a:rPr lang="en-US" altLang="zh-TW">
                <a:solidFill>
                  <a:prstClr val="white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=</a:t>
            </a:r>
            <a:endParaRPr lang="zh-TW" altLang="en-US">
              <a:solidFill>
                <a:prstClr val="white"/>
              </a:solidFill>
              <a:latin typeface="Arial" panose="020B060402020202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2">
            <a:extLst>
              <a:ext uri="{FF2B5EF4-FFF2-40B4-BE49-F238E27FC236}">
                <a16:creationId xmlns:a16="http://schemas.microsoft.com/office/drawing/2014/main" id="{27FD0AE8-C982-8466-C3B0-1C5A99F757EC}"/>
              </a:ext>
            </a:extLst>
          </p:cNvPr>
          <p:cNvSpPr txBox="1">
            <a:spLocks/>
          </p:cNvSpPr>
          <p:nvPr/>
        </p:nvSpPr>
        <p:spPr>
          <a:xfrm>
            <a:off x="9292800" y="642072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914446">
              <a:defRPr/>
            </a:pPr>
            <a:fld id="{C943E751-5AFC-0141-B0E4-D3EAC645F84F}" type="slidenum">
              <a:rPr kumimoji="1" lang="zh-TW" altLang="en-US" sz="1867">
                <a:solidFill>
                  <a:prstClr val="black">
                    <a:lumMod val="50000"/>
                  </a:prstClr>
                </a:solidFill>
                <a:latin typeface="Bahnschrift Condensed" panose="020B0502040204020203" pitchFamily="34" charset="0"/>
                <a:ea typeface="微軟正黑體"/>
              </a:rPr>
              <a:pPr algn="r" defTabSz="914446">
                <a:defRPr/>
              </a:pPr>
              <a:t>5</a:t>
            </a:fld>
            <a:endParaRPr kumimoji="1" lang="zh-TW" altLang="en-US" sz="1867">
              <a:solidFill>
                <a:prstClr val="black">
                  <a:lumMod val="50000"/>
                </a:prstClr>
              </a:solidFill>
              <a:latin typeface="Bahnschrift Condensed" panose="020B0502040204020203" pitchFamily="34" charset="0"/>
              <a:ea typeface="微軟正黑體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DF410DFF-5B0D-4B0E-B8FD-84CDA161F4EF}"/>
              </a:ext>
            </a:extLst>
          </p:cNvPr>
          <p:cNvSpPr>
            <a:spLocks noGrp="1"/>
          </p:cNvSpPr>
          <p:nvPr/>
        </p:nvSpPr>
        <p:spPr>
          <a:xfrm>
            <a:off x="903817" y="3051579"/>
            <a:ext cx="4476750" cy="1962150"/>
          </a:xfrm>
          <a:prstGeom prst="roundRect">
            <a:avLst>
              <a:gd name="adj" fmla="val 3883"/>
            </a:avLst>
          </a:prstGeom>
          <a:solidFill>
            <a:srgbClr val="E7F6F1"/>
          </a:solidFill>
          <a:ln w="25718">
            <a:solidFill>
              <a:srgbClr val="167D7F"/>
            </a:solidFill>
            <a:prstDash val="solid"/>
          </a:ln>
        </p:spPr>
        <p:txBody>
          <a:bodyPr/>
          <a:lstStyle/>
          <a:p>
            <a:pPr defTabSz="609630"/>
            <a:endParaRPr lang="zh-TW" altLang="en-US" sz="1200">
              <a:solidFill>
                <a:prstClr val="black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E34CFF9-C167-4AF8-AD10-22FEAFD1FC45}"/>
              </a:ext>
            </a:extLst>
          </p:cNvPr>
          <p:cNvSpPr>
            <a:spLocks noGrp="1"/>
          </p:cNvSpPr>
          <p:nvPr/>
        </p:nvSpPr>
        <p:spPr>
          <a:xfrm>
            <a:off x="353090" y="3775479"/>
            <a:ext cx="3867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 defTabSz="609630">
              <a:defRPr sz="3150" b="1">
                <a:solidFill>
                  <a:srgbClr val="167D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33" b="1" err="1">
                <a:solidFill>
                  <a:srgbClr val="167D7F"/>
                </a:solidFill>
                <a:latin typeface="Microsoft JhengHei"/>
                <a:ea typeface="Microsoft JhengHei"/>
                <a:cs typeface="Microsoft JhengHei"/>
              </a:rPr>
              <a:t>可以交給</a:t>
            </a:r>
            <a:r>
              <a:rPr sz="2133" b="1">
                <a:solidFill>
                  <a:srgbClr val="167D7F"/>
                </a:solidFill>
                <a:latin typeface="Microsoft JhengHei"/>
                <a:ea typeface="Microsoft JhengHei"/>
                <a:cs typeface="Microsoft JhengHei"/>
              </a:rPr>
              <a:t> AI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9A1445E-39AF-4FB7-940F-B171E5B9E5E1}"/>
              </a:ext>
            </a:extLst>
          </p:cNvPr>
          <p:cNvSpPr>
            <a:spLocks noGrp="1"/>
          </p:cNvSpPr>
          <p:nvPr/>
        </p:nvSpPr>
        <p:spPr>
          <a:xfrm>
            <a:off x="5685367" y="3756429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 defTabSz="609630">
              <a:defRPr sz="5175" b="1">
                <a:solidFill>
                  <a:srgbClr val="C792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C79200"/>
                </a:solidFill>
                <a:latin typeface="Microsoft JhengHei"/>
                <a:ea typeface="Microsoft JhengHei"/>
                <a:cs typeface="Microsoft JhengHei"/>
              </a:rPr>
              <a:t>但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8A7F9101-A07A-4E46-A87F-7210E8D48454}"/>
              </a:ext>
            </a:extLst>
          </p:cNvPr>
          <p:cNvSpPr>
            <a:spLocks noGrp="1"/>
          </p:cNvSpPr>
          <p:nvPr/>
        </p:nvSpPr>
        <p:spPr>
          <a:xfrm>
            <a:off x="6675967" y="3070629"/>
            <a:ext cx="4476750" cy="1962150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25718">
            <a:solidFill>
              <a:srgbClr val="C79200"/>
            </a:solidFill>
            <a:prstDash val="solid"/>
          </a:ln>
        </p:spPr>
        <p:txBody>
          <a:bodyPr/>
          <a:lstStyle/>
          <a:p>
            <a:pPr defTabSz="609630"/>
            <a:endParaRPr lang="zh-TW" altLang="en-US" sz="1200">
              <a:solidFill>
                <a:prstClr val="black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1C67A68-1B5D-4DD3-9C83-1DEB780EE8D2}"/>
              </a:ext>
            </a:extLst>
          </p:cNvPr>
          <p:cNvSpPr>
            <a:spLocks noGrp="1"/>
          </p:cNvSpPr>
          <p:nvPr/>
        </p:nvSpPr>
        <p:spPr>
          <a:xfrm>
            <a:off x="7837109" y="3775478"/>
            <a:ext cx="3867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 defTabSz="609630">
              <a:defRPr sz="3150" b="1">
                <a:solidFill>
                  <a:srgbClr val="C792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 err="1">
                <a:solidFill>
                  <a:srgbClr val="C79200"/>
                </a:solidFill>
                <a:latin typeface="Microsoft JhengHei"/>
                <a:ea typeface="Microsoft JhengHei"/>
                <a:cs typeface="Microsoft JhengHei"/>
              </a:rPr>
              <a:t>必須</a:t>
            </a:r>
            <a:r>
              <a:rPr sz="2133" b="1" err="1">
                <a:solidFill>
                  <a:srgbClr val="C79200"/>
                </a:solidFill>
                <a:latin typeface="Microsoft JhengHei"/>
                <a:ea typeface="Microsoft JhengHei"/>
                <a:cs typeface="Microsoft JhengHei"/>
              </a:rPr>
              <a:t>留</a:t>
            </a:r>
            <a:r>
              <a:rPr lang="zh-TW" altLang="en-US" sz="2133" b="1">
                <a:solidFill>
                  <a:srgbClr val="C79200"/>
                </a:solidFill>
                <a:latin typeface="Microsoft JhengHei"/>
                <a:ea typeface="Microsoft JhengHei"/>
                <a:cs typeface="Microsoft JhengHei"/>
              </a:rPr>
              <a:t>給</a:t>
            </a:r>
            <a:r>
              <a:rPr sz="2100" b="1">
                <a:solidFill>
                  <a:srgbClr val="C79200"/>
                </a:solidFill>
                <a:latin typeface="Microsoft JhengHei"/>
                <a:ea typeface="Microsoft JhengHei"/>
                <a:cs typeface="Microsoft JhengHei"/>
              </a:rPr>
              <a:t>人</a:t>
            </a:r>
            <a:r>
              <a:rPr lang="zh-TW" altLang="en-US" sz="2100" b="1">
                <a:solidFill>
                  <a:srgbClr val="C79200"/>
                </a:solidFill>
                <a:latin typeface="Microsoft JhengHei"/>
                <a:ea typeface="Microsoft JhengHei"/>
                <a:cs typeface="Microsoft JhengHei"/>
              </a:rPr>
              <a:t>的專業</a:t>
            </a:r>
            <a:endParaRPr sz="2100" b="1">
              <a:solidFill>
                <a:srgbClr val="C79200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AC255B3-5AED-4058-B266-4CD4CB10BE3E}"/>
              </a:ext>
            </a:extLst>
          </p:cNvPr>
          <p:cNvSpPr>
            <a:spLocks noGrp="1"/>
          </p:cNvSpPr>
          <p:nvPr/>
        </p:nvSpPr>
        <p:spPr>
          <a:xfrm>
            <a:off x="-112183" y="5671300"/>
            <a:ext cx="12416367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 defTabSz="609630">
              <a:defRPr sz="3825" b="1">
                <a:solidFill>
                  <a:srgbClr val="1E3A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E3A66"/>
                </a:solidFill>
                <a:latin typeface="Microsoft JhengHei"/>
                <a:ea typeface="Microsoft JhengHei"/>
                <a:cs typeface="Microsoft JhengHei"/>
              </a:rPr>
              <a:t>“You can outsource thinking,</a:t>
            </a:r>
            <a:r>
              <a:rPr lang="zh-TW" altLang="en-US" sz="2400" b="1">
                <a:solidFill>
                  <a:srgbClr val="1E3A66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400" b="1">
                <a:solidFill>
                  <a:srgbClr val="1E3A66"/>
                </a:solidFill>
                <a:latin typeface="Microsoft JhengHei"/>
                <a:ea typeface="Microsoft JhengHei"/>
                <a:cs typeface="Microsoft JhengHei"/>
              </a:rPr>
              <a:t>but you cannot outsource understanding.”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7C4E714-3AA5-46A5-9C04-3E79F40B9D3D}"/>
              </a:ext>
            </a:extLst>
          </p:cNvPr>
          <p:cNvSpPr>
            <a:spLocks noGrp="1"/>
          </p:cNvSpPr>
          <p:nvPr/>
        </p:nvSpPr>
        <p:spPr>
          <a:xfrm>
            <a:off x="1122045" y="6287370"/>
            <a:ext cx="8877300" cy="5706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 defTabSz="609630">
              <a:defRPr sz="1688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defRPr>
            </a:pPr>
            <a:endParaRPr>
              <a:solidFill>
                <a:srgbClr val="6B7280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8F0E0D12-7002-BAE2-2B17-C039319F88C8}"/>
              </a:ext>
            </a:extLst>
          </p:cNvPr>
          <p:cNvSpPr txBox="1"/>
          <p:nvPr/>
        </p:nvSpPr>
        <p:spPr>
          <a:xfrm>
            <a:off x="1482090" y="1366705"/>
            <a:ext cx="9324340" cy="94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630">
              <a:lnSpc>
                <a:spcPct val="150000"/>
              </a:lnSpc>
            </a:pPr>
            <a:r>
              <a:rPr lang="zh-TW" altLang="zh-TW" sz="1600">
                <a:solidFill>
                  <a:prstClr val="white">
                    <a:lumMod val="50000"/>
                  </a:prst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以前</a:t>
            </a:r>
            <a:r>
              <a:rPr lang="zh-TW" altLang="en-US" sz="1600">
                <a:solidFill>
                  <a:prstClr val="white">
                    <a:lumMod val="50000"/>
                  </a:prst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述</a:t>
            </a:r>
            <a:r>
              <a:rPr lang="zh-TW" altLang="zh-TW" sz="1600">
                <a:solidFill>
                  <a:prstClr val="white">
                    <a:lumMod val="50000"/>
                  </a:prst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分析報告為例：</a:t>
            </a:r>
            <a:endParaRPr lang="en-US" altLang="zh-TW" sz="1600">
              <a:solidFill>
                <a:prstClr val="white">
                  <a:lumMod val="50000"/>
                </a:prst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defTabSz="609630">
              <a:lnSpc>
                <a:spcPct val="150000"/>
              </a:lnSpc>
            </a:pPr>
            <a:r>
              <a:rPr lang="zh-TW" altLang="zh-TW" sz="24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 協助揭露事實與整理差異；市場意涵、策略取捨，仍</a:t>
            </a:r>
            <a:r>
              <a:rPr lang="zh-TW" altLang="en-US" sz="24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需</a:t>
            </a:r>
            <a:r>
              <a:rPr lang="zh-TW" altLang="zh-TW" sz="24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專業判斷</a:t>
            </a:r>
            <a:r>
              <a:rPr lang="zh-TW" altLang="zh-TW" sz="1867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C726AA6F-8B68-C4DB-B072-CE849BE7DB11}"/>
              </a:ext>
            </a:extLst>
          </p:cNvPr>
          <p:cNvSpPr txBox="1"/>
          <p:nvPr/>
        </p:nvSpPr>
        <p:spPr>
          <a:xfrm>
            <a:off x="3614178" y="3136958"/>
            <a:ext cx="1361440" cy="17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630">
              <a:lnSpc>
                <a:spcPct val="150000"/>
              </a:lnSpc>
            </a:pPr>
            <a:r>
              <a:rPr lang="zh-TW" altLang="zh-TW" sz="1867" b="1">
                <a:solidFill>
                  <a:srgbClr val="16395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資料收斂</a:t>
            </a:r>
            <a:br>
              <a:rPr lang="zh-TW" altLang="zh-TW" sz="1867" b="1">
                <a:solidFill>
                  <a:srgbClr val="16395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zh-TW" sz="1867" b="1">
                <a:solidFill>
                  <a:srgbClr val="16395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初稿產出</a:t>
            </a:r>
            <a:br>
              <a:rPr lang="zh-TW" altLang="zh-TW" sz="1867" b="1">
                <a:solidFill>
                  <a:srgbClr val="16395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zh-TW" sz="1867" b="1">
                <a:solidFill>
                  <a:srgbClr val="16395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內容轉譯</a:t>
            </a:r>
            <a:br>
              <a:rPr lang="zh-TW" altLang="zh-TW" sz="1867" b="1">
                <a:solidFill>
                  <a:srgbClr val="16395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zh-TW" sz="1867" b="1">
                <a:solidFill>
                  <a:srgbClr val="16395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格式整理</a:t>
            </a:r>
            <a:endParaRPr lang="zh-TW" altLang="en-US" sz="1867" b="1">
              <a:solidFill>
                <a:srgbClr val="163953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03550BAA-6E3B-D5F0-15BB-F6058FD6FA01}"/>
              </a:ext>
            </a:extLst>
          </p:cNvPr>
          <p:cNvSpPr txBox="1"/>
          <p:nvPr/>
        </p:nvSpPr>
        <p:spPr>
          <a:xfrm>
            <a:off x="7236672" y="3166476"/>
            <a:ext cx="1350010" cy="17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630">
              <a:lnSpc>
                <a:spcPct val="150000"/>
              </a:lnSpc>
            </a:pPr>
            <a:r>
              <a:rPr lang="zh-TW" altLang="en-US" sz="1867" b="1">
                <a:solidFill>
                  <a:srgbClr val="16395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問題定義</a:t>
            </a:r>
          </a:p>
          <a:p>
            <a:pPr defTabSz="609630">
              <a:lnSpc>
                <a:spcPct val="150000"/>
              </a:lnSpc>
            </a:pPr>
            <a:r>
              <a:rPr lang="zh-TW" altLang="en-US" sz="1867" b="1">
                <a:solidFill>
                  <a:srgbClr val="16395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品質判斷</a:t>
            </a:r>
          </a:p>
          <a:p>
            <a:pPr defTabSz="609630">
              <a:lnSpc>
                <a:spcPct val="150000"/>
              </a:lnSpc>
            </a:pPr>
            <a:r>
              <a:rPr lang="zh-TW" altLang="en-US" sz="1867" b="1">
                <a:solidFill>
                  <a:srgbClr val="16395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策略取捨</a:t>
            </a:r>
          </a:p>
          <a:p>
            <a:pPr defTabSz="609630">
              <a:lnSpc>
                <a:spcPct val="150000"/>
              </a:lnSpc>
            </a:pPr>
            <a:r>
              <a:rPr lang="zh-TW" altLang="en-US" sz="1867" b="1">
                <a:solidFill>
                  <a:srgbClr val="16395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方向設定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79D3A05-385A-2D01-0C51-3294DF86914E}"/>
              </a:ext>
            </a:extLst>
          </p:cNvPr>
          <p:cNvSpPr txBox="1"/>
          <p:nvPr/>
        </p:nvSpPr>
        <p:spPr>
          <a:xfrm>
            <a:off x="3184081" y="6329438"/>
            <a:ext cx="5823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Andrej </a:t>
            </a:r>
            <a:r>
              <a:rPr lang="en-US" altLang="zh-TW" err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Karpathy</a:t>
            </a:r>
            <a:r>
              <a:rPr lang="zh-TW" altLang="en-US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｜</a:t>
            </a:r>
            <a:r>
              <a:rPr lang="en-US" altLang="zh-TW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OpenAI </a:t>
            </a:r>
            <a:r>
              <a:rPr lang="zh-TW" altLang="en-US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創始成員｜前 </a:t>
            </a:r>
            <a:r>
              <a:rPr lang="en-US" altLang="zh-TW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Tesla AI </a:t>
            </a:r>
            <a:r>
              <a:rPr lang="zh-TW" altLang="en-US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總監</a:t>
            </a:r>
          </a:p>
        </p:txBody>
      </p:sp>
    </p:spTree>
    <p:extLst>
      <p:ext uri="{BB962C8B-B14F-4D97-AF65-F5344CB8AC3E}">
        <p14:creationId xmlns:p14="http://schemas.microsoft.com/office/powerpoint/2010/main" val="3170155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E812C-6E1E-C16C-92E9-9985E419B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288C34DC-244D-CBDE-7992-B69FA4CCA7C3}"/>
              </a:ext>
            </a:extLst>
          </p:cNvPr>
          <p:cNvCxnSpPr>
            <a:cxnSpLocks/>
          </p:cNvCxnSpPr>
          <p:nvPr/>
        </p:nvCxnSpPr>
        <p:spPr>
          <a:xfrm>
            <a:off x="1989877" y="4905375"/>
            <a:ext cx="805815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群組 62">
            <a:extLst>
              <a:ext uri="{FF2B5EF4-FFF2-40B4-BE49-F238E27FC236}">
                <a16:creationId xmlns:a16="http://schemas.microsoft.com/office/drawing/2014/main" id="{B6ED9365-19F1-843C-7EDE-E30B0DCFB483}"/>
              </a:ext>
            </a:extLst>
          </p:cNvPr>
          <p:cNvGrpSpPr/>
          <p:nvPr/>
        </p:nvGrpSpPr>
        <p:grpSpPr>
          <a:xfrm>
            <a:off x="1" y="183482"/>
            <a:ext cx="11564981" cy="417987"/>
            <a:chOff x="671322" y="492959"/>
            <a:chExt cx="11564980" cy="417987"/>
          </a:xfrm>
        </p:grpSpPr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A5AA98E4-BDA2-34C9-B628-C0F2C29E4E25}"/>
                </a:ext>
              </a:extLst>
            </p:cNvPr>
            <p:cNvSpPr/>
            <p:nvPr/>
          </p:nvSpPr>
          <p:spPr>
            <a:xfrm>
              <a:off x="922811" y="530557"/>
              <a:ext cx="11313491" cy="342791"/>
            </a:xfrm>
            <a:prstGeom prst="rect">
              <a:avLst/>
            </a:prstGeom>
            <a:noFill/>
          </p:spPr>
          <p:txBody>
            <a:bodyPr lIns="70199" tIns="35100" rIns="70199" bIns="35100" anchor="ctr"/>
            <a:lstStyle/>
            <a:p>
              <a:pPr defTabSz="609630">
                <a:defRPr sz="3038" b="1">
                  <a:solidFill>
                    <a:srgbClr val="111111"/>
                  </a:solidFill>
                  <a:latin typeface="Microsoft JhengHei"/>
                  <a:ea typeface="Microsoft JhengHei"/>
                  <a:cs typeface="Microsoft JhengHei"/>
                </a:defRPr>
              </a:pPr>
              <a:r>
                <a:rPr lang="en-US" altLang="zh-TW" sz="3200" b="1">
                  <a:solidFill>
                    <a:srgbClr val="111111"/>
                  </a:solidFill>
                  <a:latin typeface="Microsoft JhengHei"/>
                  <a:ea typeface="Microsoft JhengHei"/>
                  <a:cs typeface="Microsoft JhengHei"/>
                </a:rPr>
                <a:t>AI</a:t>
              </a:r>
              <a:r>
                <a:rPr lang="zh-TW" altLang="en-US" sz="3200" b="1">
                  <a:solidFill>
                    <a:srgbClr val="111111"/>
                  </a:solidFill>
                  <a:latin typeface="Microsoft JhengHei"/>
                  <a:ea typeface="Microsoft JhengHei"/>
                  <a:cs typeface="Microsoft JhengHei"/>
                </a:rPr>
                <a:t>協作不是立刻變快，而是先經過一段學習低谷</a:t>
              </a:r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DA468DB4-BAD0-9A9D-AE19-566BE3533EA2}"/>
                </a:ext>
              </a:extLst>
            </p:cNvPr>
            <p:cNvSpPr/>
            <p:nvPr/>
          </p:nvSpPr>
          <p:spPr>
            <a:xfrm>
              <a:off x="671322" y="492959"/>
              <a:ext cx="188768" cy="417987"/>
            </a:xfrm>
            <a:prstGeom prst="rect">
              <a:avLst/>
            </a:prstGeom>
            <a:solidFill>
              <a:srgbClr val="4AC1A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02083">
                <a:defRPr/>
              </a:pPr>
              <a:endParaRPr lang="zh-TW" altLang="en-US" sz="1382">
                <a:solidFill>
                  <a:prstClr val="white"/>
                </a:solidFill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</p:grpSp>
      <p:sp>
        <p:nvSpPr>
          <p:cNvPr id="66" name="矩形 65">
            <a:extLst>
              <a:ext uri="{FF2B5EF4-FFF2-40B4-BE49-F238E27FC236}">
                <a16:creationId xmlns:a16="http://schemas.microsoft.com/office/drawing/2014/main" id="{0E823655-26C3-349A-D975-05B636A399FB}"/>
              </a:ext>
            </a:extLst>
          </p:cNvPr>
          <p:cNvSpPr/>
          <p:nvPr/>
        </p:nvSpPr>
        <p:spPr>
          <a:xfrm>
            <a:off x="-291348" y="470244"/>
            <a:ext cx="12520574" cy="484393"/>
          </a:xfrm>
          <a:prstGeom prst="rect">
            <a:avLst/>
          </a:prstGeom>
          <a:gradFill>
            <a:gsLst>
              <a:gs pos="917">
                <a:srgbClr val="9BDDCC">
                  <a:alpha val="4000"/>
                </a:srgbClr>
              </a:gs>
              <a:gs pos="99083">
                <a:schemeClr val="accent6">
                  <a:lumMod val="40000"/>
                  <a:lumOff val="60000"/>
                  <a:alpha val="0"/>
                </a:schemeClr>
              </a:gs>
              <a:gs pos="70000">
                <a:srgbClr val="9BDDCC">
                  <a:alpha val="25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>
              <a:defRPr/>
            </a:pPr>
            <a:r>
              <a:rPr lang="en-US" altLang="zh-TW">
                <a:solidFill>
                  <a:prstClr val="white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=</a:t>
            </a:r>
            <a:endParaRPr lang="zh-TW" altLang="en-US">
              <a:solidFill>
                <a:prstClr val="white"/>
              </a:solidFill>
              <a:latin typeface="Arial" panose="020B060402020202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2">
            <a:extLst>
              <a:ext uri="{FF2B5EF4-FFF2-40B4-BE49-F238E27FC236}">
                <a16:creationId xmlns:a16="http://schemas.microsoft.com/office/drawing/2014/main" id="{0297A29F-A190-283E-C1F7-CFC98BEEA311}"/>
              </a:ext>
            </a:extLst>
          </p:cNvPr>
          <p:cNvSpPr txBox="1">
            <a:spLocks/>
          </p:cNvSpPr>
          <p:nvPr/>
        </p:nvSpPr>
        <p:spPr>
          <a:xfrm>
            <a:off x="9292800" y="642072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914446">
              <a:defRPr/>
            </a:pPr>
            <a:fld id="{C943E751-5AFC-0141-B0E4-D3EAC645F84F}" type="slidenum">
              <a:rPr kumimoji="1" lang="zh-TW" altLang="en-US" sz="1867">
                <a:solidFill>
                  <a:prstClr val="black">
                    <a:lumMod val="50000"/>
                  </a:prstClr>
                </a:solidFill>
                <a:latin typeface="Bahnschrift Condensed" panose="020B0502040204020203" pitchFamily="34" charset="0"/>
                <a:ea typeface="微軟正黑體"/>
              </a:rPr>
              <a:pPr algn="r" defTabSz="914446">
                <a:defRPr/>
              </a:pPr>
              <a:t>6</a:t>
            </a:fld>
            <a:endParaRPr kumimoji="1" lang="zh-TW" altLang="en-US" sz="1867">
              <a:solidFill>
                <a:prstClr val="black">
                  <a:lumMod val="50000"/>
                </a:prstClr>
              </a:solidFill>
              <a:latin typeface="Bahnschrift Condensed" panose="020B0502040204020203" pitchFamily="34" charset="0"/>
              <a:ea typeface="微軟正黑體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0009AFB-00F9-E369-8775-E169DC8421B4}"/>
              </a:ext>
            </a:extLst>
          </p:cNvPr>
          <p:cNvSpPr>
            <a:spLocks noGrp="1"/>
          </p:cNvSpPr>
          <p:nvPr/>
        </p:nvSpPr>
        <p:spPr>
          <a:xfrm>
            <a:off x="665237" y="5599595"/>
            <a:ext cx="10861525" cy="4252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 defTabSz="609630"/>
            <a:r>
              <a:rPr lang="zh-TW" altLang="zh-TW" sz="28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知道為何改 → 願意投入 → 知道怎麼做 → 做得出來 → 持續強化</a:t>
            </a:r>
            <a:endParaRPr lang="zh-TW" altLang="en-US" sz="280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1CCC723-AACA-44A7-A891-61E84E792101}"/>
              </a:ext>
            </a:extLst>
          </p:cNvPr>
          <p:cNvSpPr>
            <a:spLocks noGrp="1"/>
          </p:cNvSpPr>
          <p:nvPr/>
        </p:nvSpPr>
        <p:spPr>
          <a:xfrm>
            <a:off x="1028700" y="1082956"/>
            <a:ext cx="10134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 defTabSz="609630">
              <a:defRPr sz="3038" b="1">
                <a:solidFill>
                  <a:srgbClr val="1E3A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400" b="1">
                <a:solidFill>
                  <a:srgbClr val="1E3A66"/>
                </a:solidFill>
                <a:latin typeface="Microsoft JhengHei"/>
                <a:ea typeface="Microsoft JhengHei"/>
                <a:cs typeface="Microsoft JhengHei"/>
              </a:rPr>
              <a:t>從知道、願意、會用，到持續使用，中間需要時間與管理支撐。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DB7A7B06-E820-4AAD-B82D-9BB16DC780C1}"/>
              </a:ext>
            </a:extLst>
          </p:cNvPr>
          <p:cNvSpPr>
            <a:spLocks noGrp="1"/>
          </p:cNvSpPr>
          <p:nvPr/>
        </p:nvSpPr>
        <p:spPr>
          <a:xfrm>
            <a:off x="3487843" y="4261033"/>
            <a:ext cx="4762500" cy="9525"/>
          </a:xfrm>
          <a:prstGeom prst="line">
            <a:avLst/>
          </a:prstGeom>
          <a:noFill/>
          <a:ln w="28575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pPr defTabSz="609630"/>
            <a:endParaRPr lang="zh-TW" altLang="en-US" sz="1200">
              <a:solidFill>
                <a:prstClr val="black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9" name="直線接點 8">
            <a:extLst>
              <a:ext uri="{FF2B5EF4-FFF2-40B4-BE49-F238E27FC236}">
                <a16:creationId xmlns:a16="http://schemas.microsoft.com/office/drawing/2014/main" id="{0CCC96E8-5A67-42B3-9C71-05B254D1DC22}"/>
              </a:ext>
            </a:extLst>
          </p:cNvPr>
          <p:cNvSpPr>
            <a:spLocks noGrp="1"/>
          </p:cNvSpPr>
          <p:nvPr/>
        </p:nvSpPr>
        <p:spPr>
          <a:xfrm>
            <a:off x="3487843" y="2461761"/>
            <a:ext cx="0" cy="1789591"/>
          </a:xfrm>
          <a:prstGeom prst="line">
            <a:avLst/>
          </a:prstGeom>
          <a:noFill/>
          <a:ln w="28575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 defTabSz="609630"/>
            <a:endParaRPr lang="zh-TW" altLang="en-US" sz="1200">
              <a:solidFill>
                <a:prstClr val="black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0D0B516-3326-420C-A74A-18B6A8EF7D47}"/>
              </a:ext>
            </a:extLst>
          </p:cNvPr>
          <p:cNvSpPr>
            <a:spLocks noGrp="1"/>
          </p:cNvSpPr>
          <p:nvPr/>
        </p:nvSpPr>
        <p:spPr>
          <a:xfrm>
            <a:off x="2589106" y="1927465"/>
            <a:ext cx="1702445" cy="6226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 defTabSz="609630">
              <a:defRPr sz="1463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1867" b="1">
                <a:solidFill>
                  <a:schemeClr val="bg2">
                    <a:lumMod val="50000"/>
                  </a:schemeClr>
                </a:solidFill>
                <a:latin typeface="Microsoft JhengHei"/>
                <a:ea typeface="Microsoft JhengHei"/>
                <a:cs typeface="Microsoft JhengHei"/>
              </a:rPr>
              <a:t>生產力</a:t>
            </a:r>
            <a:r>
              <a:rPr lang="en-US" altLang="zh-TW" sz="1867" b="1">
                <a:solidFill>
                  <a:schemeClr val="bg2">
                    <a:lumMod val="50000"/>
                  </a:schemeClr>
                </a:solidFill>
                <a:latin typeface="Microsoft JhengHei"/>
                <a:ea typeface="Microsoft JhengHei"/>
                <a:cs typeface="Microsoft JhengHei"/>
              </a:rPr>
              <a:t>/</a:t>
            </a:r>
            <a:r>
              <a:rPr lang="zh-TW" altLang="en-US" sz="1867" b="1">
                <a:solidFill>
                  <a:schemeClr val="bg2">
                    <a:lumMod val="50000"/>
                  </a:schemeClr>
                </a:solidFill>
                <a:latin typeface="Microsoft JhengHei"/>
                <a:ea typeface="Microsoft JhengHei"/>
                <a:cs typeface="Microsoft JhengHei"/>
              </a:rPr>
              <a:t>信心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854D014-29BB-4ACD-B7D2-5869A318FEAF}"/>
              </a:ext>
            </a:extLst>
          </p:cNvPr>
          <p:cNvSpPr>
            <a:spLocks noGrp="1"/>
          </p:cNvSpPr>
          <p:nvPr/>
        </p:nvSpPr>
        <p:spPr>
          <a:xfrm>
            <a:off x="8439999" y="4039088"/>
            <a:ext cx="1087540" cy="5373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defTabSz="609630">
              <a:defRPr sz="1463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1867" b="1">
                <a:solidFill>
                  <a:schemeClr val="bg2">
                    <a:lumMod val="50000"/>
                  </a:schemeClr>
                </a:solidFill>
                <a:latin typeface="Microsoft JhengHei"/>
                <a:ea typeface="Microsoft JhengHei"/>
                <a:cs typeface="Microsoft JhengHei"/>
              </a:rPr>
              <a:t>時間</a:t>
            </a:r>
          </a:p>
        </p:txBody>
      </p:sp>
      <p:sp>
        <p:nvSpPr>
          <p:cNvPr id="12" name="直線接點 11">
            <a:extLst>
              <a:ext uri="{FF2B5EF4-FFF2-40B4-BE49-F238E27FC236}">
                <a16:creationId xmlns:a16="http://schemas.microsoft.com/office/drawing/2014/main" id="{AED3E639-F1DC-480D-BF72-653F99FE98EF}"/>
              </a:ext>
            </a:extLst>
          </p:cNvPr>
          <p:cNvSpPr>
            <a:spLocks noGrp="1"/>
          </p:cNvSpPr>
          <p:nvPr/>
        </p:nvSpPr>
        <p:spPr>
          <a:xfrm>
            <a:off x="3583094" y="3109461"/>
            <a:ext cx="971550" cy="266700"/>
          </a:xfrm>
          <a:prstGeom prst="line">
            <a:avLst/>
          </a:prstGeom>
          <a:noFill/>
          <a:ln w="71438">
            <a:solidFill>
              <a:srgbClr val="C79200"/>
            </a:solidFill>
            <a:prstDash val="solid"/>
          </a:ln>
        </p:spPr>
        <p:txBody>
          <a:bodyPr/>
          <a:lstStyle/>
          <a:p>
            <a:pPr defTabSz="609630"/>
            <a:endParaRPr lang="zh-TW" altLang="en-US" sz="1200">
              <a:solidFill>
                <a:prstClr val="black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13" name="直線接點 12">
            <a:extLst>
              <a:ext uri="{FF2B5EF4-FFF2-40B4-BE49-F238E27FC236}">
                <a16:creationId xmlns:a16="http://schemas.microsoft.com/office/drawing/2014/main" id="{62D316C5-2BE3-4358-AC8E-55BA621C70BB}"/>
              </a:ext>
            </a:extLst>
          </p:cNvPr>
          <p:cNvSpPr>
            <a:spLocks noGrp="1"/>
          </p:cNvSpPr>
          <p:nvPr/>
        </p:nvSpPr>
        <p:spPr>
          <a:xfrm>
            <a:off x="4554644" y="3376161"/>
            <a:ext cx="933450" cy="457200"/>
          </a:xfrm>
          <a:prstGeom prst="line">
            <a:avLst/>
          </a:prstGeom>
          <a:noFill/>
          <a:ln w="71438">
            <a:solidFill>
              <a:srgbClr val="C79200"/>
            </a:solidFill>
            <a:prstDash val="solid"/>
          </a:ln>
        </p:spPr>
        <p:txBody>
          <a:bodyPr/>
          <a:lstStyle/>
          <a:p>
            <a:pPr defTabSz="609630"/>
            <a:endParaRPr lang="zh-TW" altLang="en-US" sz="1200">
              <a:solidFill>
                <a:prstClr val="black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14" name="直線接點 13">
            <a:extLst>
              <a:ext uri="{FF2B5EF4-FFF2-40B4-BE49-F238E27FC236}">
                <a16:creationId xmlns:a16="http://schemas.microsoft.com/office/drawing/2014/main" id="{6973CB82-D670-4C4A-A5C3-A4FE82970426}"/>
              </a:ext>
            </a:extLst>
          </p:cNvPr>
          <p:cNvSpPr>
            <a:spLocks noGrp="1"/>
          </p:cNvSpPr>
          <p:nvPr/>
        </p:nvSpPr>
        <p:spPr>
          <a:xfrm flipV="1">
            <a:off x="5488093" y="3261861"/>
            <a:ext cx="1143000" cy="571500"/>
          </a:xfrm>
          <a:prstGeom prst="line">
            <a:avLst/>
          </a:prstGeom>
          <a:noFill/>
          <a:ln w="71438">
            <a:solidFill>
              <a:srgbClr val="C79200"/>
            </a:solidFill>
            <a:prstDash val="solid"/>
          </a:ln>
        </p:spPr>
        <p:txBody>
          <a:bodyPr/>
          <a:lstStyle/>
          <a:p>
            <a:pPr defTabSz="609630"/>
            <a:endParaRPr lang="zh-TW" altLang="en-US" sz="1200">
              <a:solidFill>
                <a:prstClr val="black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15" name="直線接點 14">
            <a:extLst>
              <a:ext uri="{FF2B5EF4-FFF2-40B4-BE49-F238E27FC236}">
                <a16:creationId xmlns:a16="http://schemas.microsoft.com/office/drawing/2014/main" id="{14834E50-CC9C-4F9F-98D9-0441F023A71E}"/>
              </a:ext>
            </a:extLst>
          </p:cNvPr>
          <p:cNvSpPr>
            <a:spLocks noGrp="1"/>
          </p:cNvSpPr>
          <p:nvPr/>
        </p:nvSpPr>
        <p:spPr>
          <a:xfrm flipV="1">
            <a:off x="6631093" y="2709411"/>
            <a:ext cx="1485900" cy="552450"/>
          </a:xfrm>
          <a:prstGeom prst="line">
            <a:avLst/>
          </a:prstGeom>
          <a:noFill/>
          <a:ln w="71438">
            <a:solidFill>
              <a:srgbClr val="C79200"/>
            </a:solidFill>
            <a:prstDash val="solid"/>
          </a:ln>
        </p:spPr>
        <p:txBody>
          <a:bodyPr/>
          <a:lstStyle/>
          <a:p>
            <a:pPr defTabSz="609630"/>
            <a:endParaRPr lang="zh-TW" altLang="en-US" sz="1200">
              <a:solidFill>
                <a:prstClr val="black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19EB769-8F9A-4DF3-BE84-B0D76000BBC6}"/>
              </a:ext>
            </a:extLst>
          </p:cNvPr>
          <p:cNvSpPr>
            <a:spLocks noGrp="1"/>
          </p:cNvSpPr>
          <p:nvPr/>
        </p:nvSpPr>
        <p:spPr>
          <a:xfrm>
            <a:off x="4821344" y="3891658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 defTabSz="609630">
              <a:defRPr sz="1913" b="1">
                <a:solidFill>
                  <a:srgbClr val="C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67" b="1" err="1">
                <a:solidFill>
                  <a:srgbClr val="C00000"/>
                </a:solidFill>
                <a:latin typeface="Microsoft JhengHei"/>
                <a:ea typeface="Microsoft JhengHei"/>
                <a:cs typeface="Microsoft JhengHei"/>
              </a:rPr>
              <a:t>初期變慢</a:t>
            </a:r>
            <a:endParaRPr sz="1867" b="1">
              <a:solidFill>
                <a:srgbClr val="C00000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0CED862-0C5B-4C9D-A1B8-D089465C6EA5}"/>
              </a:ext>
            </a:extLst>
          </p:cNvPr>
          <p:cNvSpPr>
            <a:spLocks noGrp="1"/>
          </p:cNvSpPr>
          <p:nvPr/>
        </p:nvSpPr>
        <p:spPr>
          <a:xfrm>
            <a:off x="6681470" y="3280313"/>
            <a:ext cx="1485899" cy="270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 defTabSz="609630">
              <a:defRPr sz="1913" b="1">
                <a:solidFill>
                  <a:srgbClr val="167D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67" b="1" err="1">
                <a:solidFill>
                  <a:srgbClr val="167D7F"/>
                </a:solidFill>
                <a:latin typeface="Microsoft JhengHei"/>
                <a:ea typeface="Microsoft JhengHei"/>
                <a:cs typeface="Microsoft JhengHei"/>
              </a:rPr>
              <a:t>練習與標準</a:t>
            </a:r>
            <a:endParaRPr sz="1867" b="1">
              <a:solidFill>
                <a:srgbClr val="167D7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AFB4947-8D96-4AE6-B4C3-B0E5C6EFBD14}"/>
              </a:ext>
            </a:extLst>
          </p:cNvPr>
          <p:cNvSpPr>
            <a:spLocks noGrp="1"/>
          </p:cNvSpPr>
          <p:nvPr/>
        </p:nvSpPr>
        <p:spPr>
          <a:xfrm>
            <a:off x="8364644" y="2361855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 defTabSz="609630">
              <a:defRPr sz="1913" b="1">
                <a:solidFill>
                  <a:srgbClr val="1083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67" b="1" err="1">
                <a:solidFill>
                  <a:srgbClr val="10835E"/>
                </a:solidFill>
                <a:latin typeface="Microsoft JhengHei"/>
                <a:ea typeface="Microsoft JhengHei"/>
                <a:cs typeface="Microsoft JhengHei"/>
              </a:rPr>
              <a:t>能力放大</a:t>
            </a:r>
            <a:endParaRPr sz="1867" b="1">
              <a:solidFill>
                <a:srgbClr val="10835E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68840F84-5772-9DC9-2A26-B44713ECAF76}"/>
              </a:ext>
            </a:extLst>
          </p:cNvPr>
          <p:cNvSpPr txBox="1"/>
          <p:nvPr/>
        </p:nvSpPr>
        <p:spPr>
          <a:xfrm>
            <a:off x="-1070449" y="6139515"/>
            <a:ext cx="143328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ctr"/>
            <a:r>
              <a:rPr lang="en-US" altLang="zh-TW" sz="1600"/>
              <a:t>Ref</a:t>
            </a:r>
            <a:r>
              <a:rPr lang="zh-TW" altLang="en-US" sz="1600"/>
              <a:t>：Prosci®（國際變革管理研究與顧問機構）ADKAR® 變革管理模型 </a:t>
            </a:r>
            <a:endParaRPr lang="en-US" altLang="zh-TW" sz="1600"/>
          </a:p>
          <a:p>
            <a:pPr algn="ctr"/>
            <a:r>
              <a:rPr lang="zh-TW" altLang="zh-TW" sz="1600"/>
              <a:t>Awareness → Desire → Knowledge → Ability → Reinforcement</a:t>
            </a:r>
            <a:endParaRPr lang="zh-TW" altLang="en-US" sz="160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6046CF8-787E-3773-DD68-F79D23910F38}"/>
              </a:ext>
            </a:extLst>
          </p:cNvPr>
          <p:cNvSpPr txBox="1"/>
          <p:nvPr/>
        </p:nvSpPr>
        <p:spPr>
          <a:xfrm>
            <a:off x="2925901" y="4666657"/>
            <a:ext cx="6340197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zh-TW" altLang="en-US" sz="2400" b="1">
                <a:solidFill>
                  <a:srgbClr val="1E3A66"/>
                </a:solidFill>
                <a:latin typeface="Microsoft JhengHei"/>
                <a:ea typeface="Microsoft JhengHei"/>
              </a:rPr>
              <a:t>支持不是口號，而是大家一起跨過學習低谷。</a:t>
            </a:r>
            <a:endParaRPr lang="zh-TW" altLang="en-US" sz="2400" b="1">
              <a:solidFill>
                <a:srgbClr val="1E3A66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3421811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E7A7F-354C-969A-3D1E-105FF9050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群組 62">
            <a:extLst>
              <a:ext uri="{FF2B5EF4-FFF2-40B4-BE49-F238E27FC236}">
                <a16:creationId xmlns:a16="http://schemas.microsoft.com/office/drawing/2014/main" id="{DC52F0E9-5732-8BE4-3806-9DA8DD607DDF}"/>
              </a:ext>
            </a:extLst>
          </p:cNvPr>
          <p:cNvGrpSpPr/>
          <p:nvPr/>
        </p:nvGrpSpPr>
        <p:grpSpPr>
          <a:xfrm>
            <a:off x="1" y="183482"/>
            <a:ext cx="11564981" cy="417987"/>
            <a:chOff x="671322" y="492959"/>
            <a:chExt cx="11564980" cy="417987"/>
          </a:xfrm>
        </p:grpSpPr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21579994-21B2-CD17-FE6C-84D9F4A90E9E}"/>
                </a:ext>
              </a:extLst>
            </p:cNvPr>
            <p:cNvSpPr/>
            <p:nvPr/>
          </p:nvSpPr>
          <p:spPr>
            <a:xfrm>
              <a:off x="922811" y="530557"/>
              <a:ext cx="11313491" cy="342791"/>
            </a:xfrm>
            <a:prstGeom prst="rect">
              <a:avLst/>
            </a:prstGeom>
            <a:noFill/>
          </p:spPr>
          <p:txBody>
            <a:bodyPr lIns="70199" tIns="35100" rIns="70199" bIns="35100" anchor="ctr"/>
            <a:lstStyle/>
            <a:p>
              <a:pPr defTabSz="609630">
                <a:defRPr sz="3038" b="1">
                  <a:solidFill>
                    <a:srgbClr val="111111"/>
                  </a:solidFill>
                  <a:latin typeface="Microsoft JhengHei"/>
                  <a:ea typeface="Microsoft JhengHei"/>
                  <a:cs typeface="Microsoft JhengHei"/>
                </a:defRPr>
              </a:pPr>
              <a:r>
                <a:rPr lang="en-US" altLang="zh-TW" sz="3200" b="1">
                  <a:solidFill>
                    <a:srgbClr val="111111"/>
                  </a:solidFill>
                  <a:latin typeface="Microsoft JhengHei"/>
                  <a:ea typeface="Microsoft JhengHei"/>
                  <a:cs typeface="Microsoft JhengHei"/>
                </a:rPr>
                <a:t>AI </a:t>
              </a:r>
              <a:r>
                <a:rPr lang="zh-TW" altLang="en-US" sz="3200" b="1">
                  <a:solidFill>
                    <a:srgbClr val="111111"/>
                  </a:solidFill>
                  <a:latin typeface="Microsoft JhengHei"/>
                  <a:ea typeface="Microsoft JhengHei"/>
                  <a:cs typeface="Microsoft JhengHei"/>
                </a:rPr>
                <a:t>協作的能力</a:t>
              </a:r>
              <a:r>
                <a:rPr lang="zh-TW" altLang="zh-TW" sz="3200" b="1">
                  <a:solidFill>
                    <a:srgbClr val="111111"/>
                  </a:solidFill>
                  <a:latin typeface="Microsoft JhengHei"/>
                  <a:ea typeface="Microsoft JhengHei"/>
                </a:rPr>
                <a:t>鋸齒狀</a:t>
              </a:r>
              <a:r>
                <a:rPr lang="zh-TW" altLang="en-US" sz="3200" b="1">
                  <a:solidFill>
                    <a:srgbClr val="111111"/>
                  </a:solidFill>
                  <a:latin typeface="Microsoft JhengHei"/>
                  <a:ea typeface="Microsoft JhengHei"/>
                </a:rPr>
                <a:t>，</a:t>
              </a:r>
              <a:r>
                <a:rPr lang="zh-TW" altLang="zh-TW" sz="3200" b="1">
                  <a:solidFill>
                    <a:srgbClr val="111111"/>
                  </a:solidFill>
                  <a:latin typeface="Microsoft JhengHei"/>
                  <a:ea typeface="Microsoft JhengHei"/>
                </a:rPr>
                <a:t>高峰很高，低谷也真實存在</a:t>
              </a:r>
              <a:endParaRPr lang="zh-TW" altLang="en-US" sz="32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endParaRPr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E061A52F-2F2C-49F6-C31D-A8C7EB696960}"/>
                </a:ext>
              </a:extLst>
            </p:cNvPr>
            <p:cNvSpPr/>
            <p:nvPr/>
          </p:nvSpPr>
          <p:spPr>
            <a:xfrm>
              <a:off x="671322" y="492959"/>
              <a:ext cx="188768" cy="417987"/>
            </a:xfrm>
            <a:prstGeom prst="rect">
              <a:avLst/>
            </a:prstGeom>
            <a:solidFill>
              <a:srgbClr val="4AC1A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02083">
                <a:defRPr/>
              </a:pPr>
              <a:endParaRPr lang="zh-TW" altLang="en-US" sz="1382">
                <a:solidFill>
                  <a:prstClr val="white"/>
                </a:solidFill>
                <a:latin typeface="Arial" panose="020B0604020202020204" pitchFamily="34" charset="0"/>
                <a:ea typeface="微軟正黑體" panose="020B0604030504040204" pitchFamily="34" charset="-120"/>
              </a:endParaRPr>
            </a:p>
          </p:txBody>
        </p:sp>
      </p:grpSp>
      <p:sp>
        <p:nvSpPr>
          <p:cNvPr id="4" name="投影片編號版面配置區 2">
            <a:extLst>
              <a:ext uri="{FF2B5EF4-FFF2-40B4-BE49-F238E27FC236}">
                <a16:creationId xmlns:a16="http://schemas.microsoft.com/office/drawing/2014/main" id="{A4B691D2-D200-EB2B-7784-3327FC3D4434}"/>
              </a:ext>
            </a:extLst>
          </p:cNvPr>
          <p:cNvSpPr txBox="1">
            <a:spLocks/>
          </p:cNvSpPr>
          <p:nvPr/>
        </p:nvSpPr>
        <p:spPr>
          <a:xfrm>
            <a:off x="9292800" y="642072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914446">
              <a:defRPr/>
            </a:pPr>
            <a:fld id="{C943E751-5AFC-0141-B0E4-D3EAC645F84F}" type="slidenum">
              <a:rPr kumimoji="1" lang="zh-TW" altLang="en-US" sz="1867">
                <a:solidFill>
                  <a:prstClr val="black">
                    <a:lumMod val="50000"/>
                  </a:prstClr>
                </a:solidFill>
                <a:latin typeface="Bahnschrift Condensed" panose="020B0502040204020203" pitchFamily="34" charset="0"/>
                <a:ea typeface="微軟正黑體"/>
              </a:rPr>
              <a:pPr algn="r" defTabSz="914446">
                <a:defRPr/>
              </a:pPr>
              <a:t>7</a:t>
            </a:fld>
            <a:endParaRPr kumimoji="1" lang="zh-TW" altLang="en-US" sz="1867">
              <a:solidFill>
                <a:prstClr val="black">
                  <a:lumMod val="50000"/>
                </a:prstClr>
              </a:solidFill>
              <a:latin typeface="Bahnschrift Condensed" panose="020B0502040204020203" pitchFamily="34" charset="0"/>
              <a:ea typeface="微軟正黑體"/>
            </a:endParaRPr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5B49F49B-9B11-E899-8EE1-81C5E6215462}"/>
              </a:ext>
            </a:extLst>
          </p:cNvPr>
          <p:cNvSpPr>
            <a:spLocks noGrp="1"/>
          </p:cNvSpPr>
          <p:nvPr/>
        </p:nvSpPr>
        <p:spPr>
          <a:xfrm>
            <a:off x="1247616" y="6305550"/>
            <a:ext cx="9696768" cy="552450"/>
          </a:xfrm>
          <a:prstGeom prst="roundRect">
            <a:avLst>
              <a:gd name="adj" fmla="val 13793"/>
            </a:avLst>
          </a:prstGeom>
          <a:solidFill>
            <a:srgbClr val="1E3A66"/>
          </a:solidFill>
          <a:ln w="0">
            <a:solidFill>
              <a:srgbClr val="1E3A66"/>
            </a:solidFill>
            <a:prstDash val="solid"/>
          </a:ln>
        </p:spPr>
        <p:txBody>
          <a:bodyPr/>
          <a:lstStyle/>
          <a:p>
            <a:pPr algn="ctr" defTabSz="609630">
              <a:defRPr sz="2588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不是盲信，也不是拒用</a:t>
            </a: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  <a:r>
              <a:rPr lang="zh-TW" altLang="en-US"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結合專業，藉由 </a:t>
            </a:r>
            <a:r>
              <a:rPr lang="en-US" altLang="zh-TW"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AI</a:t>
            </a:r>
            <a:r>
              <a:rPr lang="zh-TW" altLang="en-US"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 ，放大能力。</a:t>
            </a:r>
            <a:endParaRPr sz="2400" b="1">
              <a:solidFill>
                <a:srgbClr val="FFFFF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pic>
        <p:nvPicPr>
          <p:cNvPr id="3" name="jagged-intelligence_v9">
            <a:hlinkClick r:id="" action="ppaction://media"/>
            <a:extLst>
              <a:ext uri="{FF2B5EF4-FFF2-40B4-BE49-F238E27FC236}">
                <a16:creationId xmlns:a16="http://schemas.microsoft.com/office/drawing/2014/main" id="{4BF51373-3AA4-7710-F1AF-D90F95C51A1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45984" y="850200"/>
            <a:ext cx="9698400" cy="545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76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72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497</Words>
  <Application>Microsoft Office PowerPoint</Application>
  <PresentationFormat>寬螢幕</PresentationFormat>
  <Paragraphs>83</Paragraphs>
  <Slides>7</Slides>
  <Notes>7</Notes>
  <HiddenSlides>0</HiddenSlides>
  <MMClips>1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5" baseType="lpstr">
      <vt:lpstr>微軟正黑體</vt:lpstr>
      <vt:lpstr>微軟正黑體</vt:lpstr>
      <vt:lpstr>Aptos</vt:lpstr>
      <vt:lpstr>Aptos Display</vt:lpstr>
      <vt:lpstr>Arial</vt:lpstr>
      <vt:lpstr>Bahnschrift Condensed</vt:lpstr>
      <vt:lpstr>Calibri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喬敬 黃</cp:lastModifiedBy>
  <cp:revision>4</cp:revision>
  <dcterms:created xsi:type="dcterms:W3CDTF">2012-07-30T21:28:29Z</dcterms:created>
  <dcterms:modified xsi:type="dcterms:W3CDTF">2026-06-25T05:29:04Z</dcterms:modified>
</cp:coreProperties>
</file>